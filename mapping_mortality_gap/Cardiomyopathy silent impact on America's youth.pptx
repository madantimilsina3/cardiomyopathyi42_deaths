
<file path=[Content_Types].xml><?xml version="1.0" encoding="utf-8"?>
<Types xmlns="http://schemas.openxmlformats.org/package/2006/content-types">
  <Default Extension="fntdata" ContentType="application/x-fontdata"/>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1"/>
  </p:notesMasterIdLst>
  <p:sldIdLst>
    <p:sldId id="256" r:id="rId2"/>
    <p:sldId id="257" r:id="rId3"/>
    <p:sldId id="282" r:id="rId4"/>
    <p:sldId id="283" r:id="rId5"/>
    <p:sldId id="286" r:id="rId6"/>
    <p:sldId id="284" r:id="rId7"/>
    <p:sldId id="287" r:id="rId8"/>
    <p:sldId id="288" r:id="rId9"/>
    <p:sldId id="285" r:id="rId10"/>
    <p:sldId id="258" r:id="rId11"/>
    <p:sldId id="259" r:id="rId12"/>
    <p:sldId id="260" r:id="rId13"/>
    <p:sldId id="261" r:id="rId14"/>
    <p:sldId id="262" r:id="rId15"/>
    <p:sldId id="275" r:id="rId16"/>
    <p:sldId id="263" r:id="rId17"/>
    <p:sldId id="276" r:id="rId18"/>
    <p:sldId id="280" r:id="rId19"/>
    <p:sldId id="281" r:id="rId20"/>
  </p:sldIdLst>
  <p:sldSz cx="9144000" cy="5143500" type="screen16x9"/>
  <p:notesSz cx="6858000" cy="9144000"/>
  <p:embeddedFontLst>
    <p:embeddedFont>
      <p:font typeface="Inter" panose="020B0604020202020204" charset="0"/>
      <p:bold r:id="rId22"/>
      <p:boldItalic r:id="rId23"/>
    </p:embeddedFont>
    <p:embeddedFont>
      <p:font typeface="Inter 24pt Black" panose="02000503000000020004" pitchFamily="2" charset="0"/>
      <p:bold r:id="rId24"/>
      <p:boldItalic r:id="rId25"/>
    </p:embeddedFont>
    <p:embeddedFont>
      <p:font typeface="Inter SemiBold" panose="020B0604020202020204" charset="0"/>
      <p:regular r:id="rId26"/>
      <p:bold r:id="rId27"/>
      <p:italic r:id="rId28"/>
      <p:boldItalic r:id="rId29"/>
    </p:embeddedFont>
    <p:embeddedFont>
      <p:font typeface="Lato SemiBold" panose="020F0502020204030203" pitchFamily="34" charset="0"/>
      <p:bold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B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46"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3f5c6c6acc0_2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3f5c6c6acc0_2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f5c6c6acc0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f5c6c6acc0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0803231D-7B27-A99E-DAE4-F8275893A717}"/>
            </a:ext>
          </a:extLst>
        </p:cNvPr>
        <p:cNvGrpSpPr/>
        <p:nvPr/>
      </p:nvGrpSpPr>
      <p:grpSpPr>
        <a:xfrm>
          <a:off x="0" y="0"/>
          <a:ext cx="0" cy="0"/>
          <a:chOff x="0" y="0"/>
          <a:chExt cx="0" cy="0"/>
        </a:xfrm>
      </p:grpSpPr>
      <p:sp>
        <p:nvSpPr>
          <p:cNvPr id="119" name="Google Shape;119;g3f5c6c6acc0_25_0:notes">
            <a:extLst>
              <a:ext uri="{FF2B5EF4-FFF2-40B4-BE49-F238E27FC236}">
                <a16:creationId xmlns:a16="http://schemas.microsoft.com/office/drawing/2014/main" id="{56D5994B-C8FF-210F-7A54-A644708858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f5c6c6acc0_25_0:notes">
            <a:extLst>
              <a:ext uri="{FF2B5EF4-FFF2-40B4-BE49-F238E27FC236}">
                <a16:creationId xmlns:a16="http://schemas.microsoft.com/office/drawing/2014/main" id="{2B537F13-2DF5-C3F7-5D7D-B86AA17CEE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4583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84FC121A-F087-F412-C001-BD932936FA68}"/>
            </a:ext>
          </a:extLst>
        </p:cNvPr>
        <p:cNvGrpSpPr/>
        <p:nvPr/>
      </p:nvGrpSpPr>
      <p:grpSpPr>
        <a:xfrm>
          <a:off x="0" y="0"/>
          <a:ext cx="0" cy="0"/>
          <a:chOff x="0" y="0"/>
          <a:chExt cx="0" cy="0"/>
        </a:xfrm>
      </p:grpSpPr>
      <p:sp>
        <p:nvSpPr>
          <p:cNvPr id="119" name="Google Shape;119;g3f5c6c6acc0_25_0:notes">
            <a:extLst>
              <a:ext uri="{FF2B5EF4-FFF2-40B4-BE49-F238E27FC236}">
                <a16:creationId xmlns:a16="http://schemas.microsoft.com/office/drawing/2014/main" id="{426ADFA7-1541-73F5-1138-D688DCAB2C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f5c6c6acc0_25_0:notes">
            <a:extLst>
              <a:ext uri="{FF2B5EF4-FFF2-40B4-BE49-F238E27FC236}">
                <a16:creationId xmlns:a16="http://schemas.microsoft.com/office/drawing/2014/main" id="{283D6189-1B35-500A-417F-4A666CDFF9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9414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a:extLst>
            <a:ext uri="{FF2B5EF4-FFF2-40B4-BE49-F238E27FC236}">
              <a16:creationId xmlns:a16="http://schemas.microsoft.com/office/drawing/2014/main" id="{ED8A773D-9AAC-3E96-21A8-23209D8528C6}"/>
            </a:ext>
          </a:extLst>
        </p:cNvPr>
        <p:cNvGrpSpPr/>
        <p:nvPr/>
      </p:nvGrpSpPr>
      <p:grpSpPr>
        <a:xfrm>
          <a:off x="0" y="0"/>
          <a:ext cx="0" cy="0"/>
          <a:chOff x="0" y="0"/>
          <a:chExt cx="0" cy="0"/>
        </a:xfrm>
      </p:grpSpPr>
      <p:sp>
        <p:nvSpPr>
          <p:cNvPr id="70" name="Google Shape;70;g3f5c6c6acc0_0_319:notes">
            <a:extLst>
              <a:ext uri="{FF2B5EF4-FFF2-40B4-BE49-F238E27FC236}">
                <a16:creationId xmlns:a16="http://schemas.microsoft.com/office/drawing/2014/main" id="{7BB481F3-34AA-14B8-A4E5-E97B90D63E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f5c6c6acc0_0_319:notes">
            <a:extLst>
              <a:ext uri="{FF2B5EF4-FFF2-40B4-BE49-F238E27FC236}">
                <a16:creationId xmlns:a16="http://schemas.microsoft.com/office/drawing/2014/main" id="{1D936E41-B968-E2BD-7254-DDB5854685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2569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3F4D03B9-B185-E003-9789-996AFA5E3169}"/>
            </a:ext>
          </a:extLst>
        </p:cNvPr>
        <p:cNvGrpSpPr/>
        <p:nvPr/>
      </p:nvGrpSpPr>
      <p:grpSpPr>
        <a:xfrm>
          <a:off x="0" y="0"/>
          <a:ext cx="0" cy="0"/>
          <a:chOff x="0" y="0"/>
          <a:chExt cx="0" cy="0"/>
        </a:xfrm>
      </p:grpSpPr>
      <p:sp>
        <p:nvSpPr>
          <p:cNvPr id="119" name="Google Shape;119;g3f5c6c6acc0_25_0:notes">
            <a:extLst>
              <a:ext uri="{FF2B5EF4-FFF2-40B4-BE49-F238E27FC236}">
                <a16:creationId xmlns:a16="http://schemas.microsoft.com/office/drawing/2014/main" id="{2DFD7F07-2EF1-F27C-DD4A-D7541909C5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f5c6c6acc0_25_0:notes">
            <a:extLst>
              <a:ext uri="{FF2B5EF4-FFF2-40B4-BE49-F238E27FC236}">
                <a16:creationId xmlns:a16="http://schemas.microsoft.com/office/drawing/2014/main" id="{49423F7D-3465-B6D0-CBA7-39D3F42DFB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4398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FE8FD405-FE8B-D1B1-F3DC-CCDD48EAC9C0}"/>
            </a:ext>
          </a:extLst>
        </p:cNvPr>
        <p:cNvGrpSpPr/>
        <p:nvPr/>
      </p:nvGrpSpPr>
      <p:grpSpPr>
        <a:xfrm>
          <a:off x="0" y="0"/>
          <a:ext cx="0" cy="0"/>
          <a:chOff x="0" y="0"/>
          <a:chExt cx="0" cy="0"/>
        </a:xfrm>
      </p:grpSpPr>
      <p:sp>
        <p:nvSpPr>
          <p:cNvPr id="119" name="Google Shape;119;g3f5c6c6acc0_25_0:notes">
            <a:extLst>
              <a:ext uri="{FF2B5EF4-FFF2-40B4-BE49-F238E27FC236}">
                <a16:creationId xmlns:a16="http://schemas.microsoft.com/office/drawing/2014/main" id="{12E3D6C4-66E7-CE8D-C6FA-CC95B76371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f5c6c6acc0_25_0:notes">
            <a:extLst>
              <a:ext uri="{FF2B5EF4-FFF2-40B4-BE49-F238E27FC236}">
                <a16:creationId xmlns:a16="http://schemas.microsoft.com/office/drawing/2014/main" id="{22BBB799-5B4B-C681-488D-BBCCE5C21B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37366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74696118-A37C-22D8-F15D-A116E9A5163B}"/>
            </a:ext>
          </a:extLst>
        </p:cNvPr>
        <p:cNvGrpSpPr/>
        <p:nvPr/>
      </p:nvGrpSpPr>
      <p:grpSpPr>
        <a:xfrm>
          <a:off x="0" y="0"/>
          <a:ext cx="0" cy="0"/>
          <a:chOff x="0" y="0"/>
          <a:chExt cx="0" cy="0"/>
        </a:xfrm>
      </p:grpSpPr>
      <p:sp>
        <p:nvSpPr>
          <p:cNvPr id="119" name="Google Shape;119;g3f5c6c6acc0_25_0:notes">
            <a:extLst>
              <a:ext uri="{FF2B5EF4-FFF2-40B4-BE49-F238E27FC236}">
                <a16:creationId xmlns:a16="http://schemas.microsoft.com/office/drawing/2014/main" id="{8B522ED6-3D57-2C96-A25F-05F37207C9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f5c6c6acc0_25_0:notes">
            <a:extLst>
              <a:ext uri="{FF2B5EF4-FFF2-40B4-BE49-F238E27FC236}">
                <a16:creationId xmlns:a16="http://schemas.microsoft.com/office/drawing/2014/main" id="{D4D354E4-CA33-0C29-3530-305DD2F03D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692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8B5E9CE1-670B-A6C2-C4CD-B3DD8CA6AA4F}"/>
            </a:ext>
          </a:extLst>
        </p:cNvPr>
        <p:cNvGrpSpPr/>
        <p:nvPr/>
      </p:nvGrpSpPr>
      <p:grpSpPr>
        <a:xfrm>
          <a:off x="0" y="0"/>
          <a:ext cx="0" cy="0"/>
          <a:chOff x="0" y="0"/>
          <a:chExt cx="0" cy="0"/>
        </a:xfrm>
      </p:grpSpPr>
      <p:sp>
        <p:nvSpPr>
          <p:cNvPr id="119" name="Google Shape;119;g3f5c6c6acc0_25_0:notes">
            <a:extLst>
              <a:ext uri="{FF2B5EF4-FFF2-40B4-BE49-F238E27FC236}">
                <a16:creationId xmlns:a16="http://schemas.microsoft.com/office/drawing/2014/main" id="{22768355-C039-421F-3336-A7275FA13D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f5c6c6acc0_25_0:notes">
            <a:extLst>
              <a:ext uri="{FF2B5EF4-FFF2-40B4-BE49-F238E27FC236}">
                <a16:creationId xmlns:a16="http://schemas.microsoft.com/office/drawing/2014/main" id="{8626226E-C316-D41F-8E3E-A359EF5CC1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9424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f5c6c6acc0_0_3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f5c6c6acc0_0_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f5c6c6acc0_2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f5c6c6acc0_2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f5c6c6acc0_0_6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f5c6c6acc0_0_6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5c6c6acc0_0_5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f5c6c6acc0_0_5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f5c6c6acc0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f5c6c6acc0_0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a:extLst>
            <a:ext uri="{FF2B5EF4-FFF2-40B4-BE49-F238E27FC236}">
              <a16:creationId xmlns:a16="http://schemas.microsoft.com/office/drawing/2014/main" id="{FA515EF6-F777-5344-6DAF-5D250E3B31FC}"/>
            </a:ext>
          </a:extLst>
        </p:cNvPr>
        <p:cNvGrpSpPr/>
        <p:nvPr/>
      </p:nvGrpSpPr>
      <p:grpSpPr>
        <a:xfrm>
          <a:off x="0" y="0"/>
          <a:ext cx="0" cy="0"/>
          <a:chOff x="0" y="0"/>
          <a:chExt cx="0" cy="0"/>
        </a:xfrm>
      </p:grpSpPr>
      <p:sp>
        <p:nvSpPr>
          <p:cNvPr id="77" name="Google Shape;77;g3f5c6c6acc0_26_0:notes">
            <a:extLst>
              <a:ext uri="{FF2B5EF4-FFF2-40B4-BE49-F238E27FC236}">
                <a16:creationId xmlns:a16="http://schemas.microsoft.com/office/drawing/2014/main" id="{67FB140B-AEDC-C397-3026-009D564481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f5c6c6acc0_26_0:notes">
            <a:extLst>
              <a:ext uri="{FF2B5EF4-FFF2-40B4-BE49-F238E27FC236}">
                <a16:creationId xmlns:a16="http://schemas.microsoft.com/office/drawing/2014/main" id="{9E308E54-432E-4887-B611-A553514297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75847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f5c6c6acc0_2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f5c6c6acc0_2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B3B62129-682A-B8E1-8885-69AF51E65951}"/>
            </a:ext>
          </a:extLst>
        </p:cNvPr>
        <p:cNvGrpSpPr/>
        <p:nvPr/>
      </p:nvGrpSpPr>
      <p:grpSpPr>
        <a:xfrm>
          <a:off x="0" y="0"/>
          <a:ext cx="0" cy="0"/>
          <a:chOff x="0" y="0"/>
          <a:chExt cx="0" cy="0"/>
        </a:xfrm>
      </p:grpSpPr>
      <p:sp>
        <p:nvSpPr>
          <p:cNvPr id="119" name="Google Shape;119;g3f5c6c6acc0_25_0:notes">
            <a:extLst>
              <a:ext uri="{FF2B5EF4-FFF2-40B4-BE49-F238E27FC236}">
                <a16:creationId xmlns:a16="http://schemas.microsoft.com/office/drawing/2014/main" id="{BC9CA6B6-5BD0-9476-103E-B8A098F4DD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f5c6c6acc0_25_0:notes">
            <a:extLst>
              <a:ext uri="{FF2B5EF4-FFF2-40B4-BE49-F238E27FC236}">
                <a16:creationId xmlns:a16="http://schemas.microsoft.com/office/drawing/2014/main" id="{FE934B65-8DD8-4B3B-6386-7AE6657954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85790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F7745134-ADAE-8C14-7EA1-A4DCDFF85E92}"/>
            </a:ext>
          </a:extLst>
        </p:cNvPr>
        <p:cNvGrpSpPr/>
        <p:nvPr/>
      </p:nvGrpSpPr>
      <p:grpSpPr>
        <a:xfrm>
          <a:off x="0" y="0"/>
          <a:ext cx="0" cy="0"/>
          <a:chOff x="0" y="0"/>
          <a:chExt cx="0" cy="0"/>
        </a:xfrm>
      </p:grpSpPr>
      <p:sp>
        <p:nvSpPr>
          <p:cNvPr id="119" name="Google Shape;119;g3f5c6c6acc0_25_0:notes">
            <a:extLst>
              <a:ext uri="{FF2B5EF4-FFF2-40B4-BE49-F238E27FC236}">
                <a16:creationId xmlns:a16="http://schemas.microsoft.com/office/drawing/2014/main" id="{3BE6B358-16FC-8E44-EE69-236D70477F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f5c6c6acc0_25_0:notes">
            <a:extLst>
              <a:ext uri="{FF2B5EF4-FFF2-40B4-BE49-F238E27FC236}">
                <a16:creationId xmlns:a16="http://schemas.microsoft.com/office/drawing/2014/main" id="{473C2C2B-7A84-D86E-7362-58FE57F7EB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29855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3DBD7F2F-ED68-7A95-9425-7DBE0F01278D}"/>
            </a:ext>
          </a:extLst>
        </p:cNvPr>
        <p:cNvGrpSpPr/>
        <p:nvPr/>
      </p:nvGrpSpPr>
      <p:grpSpPr>
        <a:xfrm>
          <a:off x="0" y="0"/>
          <a:ext cx="0" cy="0"/>
          <a:chOff x="0" y="0"/>
          <a:chExt cx="0" cy="0"/>
        </a:xfrm>
      </p:grpSpPr>
      <p:sp>
        <p:nvSpPr>
          <p:cNvPr id="119" name="Google Shape;119;g3f5c6c6acc0_25_0:notes">
            <a:extLst>
              <a:ext uri="{FF2B5EF4-FFF2-40B4-BE49-F238E27FC236}">
                <a16:creationId xmlns:a16="http://schemas.microsoft.com/office/drawing/2014/main" id="{DCF1DDFD-FB7F-B388-BBF1-521DD81B3B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f5c6c6acc0_25_0:notes">
            <a:extLst>
              <a:ext uri="{FF2B5EF4-FFF2-40B4-BE49-F238E27FC236}">
                <a16:creationId xmlns:a16="http://schemas.microsoft.com/office/drawing/2014/main" id="{9416800D-749C-A00D-4605-8A051B5EBE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2924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ted (g3f5c6c6acc0_13_0)">
  <p:cSld name="Generated (g3f5c6c6acc0_13_0)">
    <p:spTree>
      <p:nvGrpSpPr>
        <p:cNvPr id="1"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0" name="Google Shape;2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9"/>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5" name="Google Shape;3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10"/>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10"/>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10"/>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1" name="Google Shape;4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1"/>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4" name="Google Shape;44;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2"/>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8" name="Google Shape;4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hyperlink" Target="https://data.census.gov/table?q=B02015&amp;y=2018" TargetMode="External"/><Relationship Id="rId3" Type="http://schemas.openxmlformats.org/officeDocument/2006/relationships/hyperlink" Target="https://www.cdc.gov/nchs/data_access/vitalstatsonline.htm" TargetMode="External"/><Relationship Id="rId7" Type="http://schemas.openxmlformats.org/officeDocument/2006/relationships/hyperlink" Target="https://data.census.gov/table/ACSST1Y2018.S0101?q=Age+and+sex&amp;y=2024" TargetMode="External"/><Relationship Id="rId12" Type="http://schemas.openxmlformats.org/officeDocument/2006/relationships/hyperlink" Target="https://www.linkedin.com/in/madan405/"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data.census.gov/table/ACSST1Y2018.S0101?q=Age+and+sex&amp;y=2018" TargetMode="External"/><Relationship Id="rId11" Type="http://schemas.openxmlformats.org/officeDocument/2006/relationships/hyperlink" Target="https://data.census.gov/table?q=B02016&amp;y=2024" TargetMode="External"/><Relationship Id="rId5" Type="http://schemas.openxmlformats.org/officeDocument/2006/relationships/hyperlink" Target="https://wonder.cdc.gov/controller/datarequest/D157" TargetMode="External"/><Relationship Id="rId10" Type="http://schemas.openxmlformats.org/officeDocument/2006/relationships/hyperlink" Target="https://data.census.gov/table?q=B02016&amp;y=2018" TargetMode="External"/><Relationship Id="rId4" Type="http://schemas.openxmlformats.org/officeDocument/2006/relationships/hyperlink" Target="https://www.cdc.gov/nchs/nvss/mortality_public_use_data.htm" TargetMode="External"/><Relationship Id="rId9" Type="http://schemas.openxmlformats.org/officeDocument/2006/relationships/hyperlink" Target="https://data.census.gov/table?q=B02015&amp;y=202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4"/>
          <p:cNvSpPr/>
          <p:nvPr/>
        </p:nvSpPr>
        <p:spPr>
          <a:xfrm>
            <a:off x="4151501" y="906242"/>
            <a:ext cx="571500" cy="381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r>
              <a:rPr lang="en"/>
              <a:t> </a:t>
            </a:r>
            <a:endParaRPr/>
          </a:p>
        </p:txBody>
      </p:sp>
      <p:sp>
        <p:nvSpPr>
          <p:cNvPr id="57" name="Google Shape;57;p14"/>
          <p:cNvSpPr txBox="1"/>
          <p:nvPr/>
        </p:nvSpPr>
        <p:spPr>
          <a:xfrm>
            <a:off x="4151501" y="1084017"/>
            <a:ext cx="4416300" cy="830400"/>
          </a:xfrm>
          <a:prstGeom prst="rect">
            <a:avLst/>
          </a:prstGeom>
          <a:noFill/>
          <a:ln>
            <a:noFill/>
          </a:ln>
        </p:spPr>
        <p:txBody>
          <a:bodyPr spcFirstLastPara="1" wrap="square" lIns="0" tIns="0" rIns="0" bIns="0" anchor="t" anchorCtr="0">
            <a:noAutofit/>
          </a:bodyPr>
          <a:lstStyle/>
          <a:p>
            <a:pPr marL="0" lvl="0" indent="0" algn="l" rtl="0">
              <a:spcBef>
                <a:spcPts val="600"/>
              </a:spcBef>
              <a:spcAft>
                <a:spcPts val="900"/>
              </a:spcAft>
              <a:buNone/>
            </a:pPr>
            <a:r>
              <a:rPr lang="en" sz="2550" b="1" dirty="0">
                <a:solidFill>
                  <a:srgbClr val="1A2B3C"/>
                </a:solidFill>
                <a:latin typeface="Inter"/>
                <a:ea typeface="Inter"/>
                <a:cs typeface="Inter"/>
                <a:sym typeface="Inter"/>
              </a:rPr>
              <a:t>The Silent Burden of Heart Disease in Young America</a:t>
            </a:r>
            <a:endParaRPr sz="1250" b="1" dirty="0">
              <a:solidFill>
                <a:srgbClr val="1A2B3C"/>
              </a:solidFill>
              <a:latin typeface="Inter"/>
              <a:ea typeface="Inter"/>
              <a:cs typeface="Inter"/>
              <a:sym typeface="Inter"/>
            </a:endParaRPr>
          </a:p>
        </p:txBody>
      </p:sp>
      <p:sp>
        <p:nvSpPr>
          <p:cNvPr id="58" name="Google Shape;58;p14"/>
          <p:cNvSpPr txBox="1"/>
          <p:nvPr/>
        </p:nvSpPr>
        <p:spPr>
          <a:xfrm>
            <a:off x="4151500" y="2121000"/>
            <a:ext cx="4416300" cy="940800"/>
          </a:xfrm>
          <a:prstGeom prst="rect">
            <a:avLst/>
          </a:prstGeom>
          <a:noFill/>
          <a:ln>
            <a:noFill/>
          </a:ln>
        </p:spPr>
        <p:txBody>
          <a:bodyPr spcFirstLastPara="1" wrap="square" lIns="0" tIns="0" rIns="0" bIns="0" anchor="t" anchorCtr="0">
            <a:noAutofit/>
          </a:bodyPr>
          <a:lstStyle/>
          <a:p>
            <a:pPr marL="0" lvl="0" indent="0" algn="l" rtl="0">
              <a:spcBef>
                <a:spcPts val="600"/>
              </a:spcBef>
              <a:spcAft>
                <a:spcPts val="900"/>
              </a:spcAft>
              <a:buNone/>
            </a:pPr>
            <a:endParaRPr dirty="0">
              <a:solidFill>
                <a:srgbClr val="1A2B3C"/>
              </a:solidFill>
              <a:latin typeface="Inter"/>
              <a:ea typeface="Inter"/>
              <a:cs typeface="Inter"/>
              <a:sym typeface="Inter"/>
            </a:endParaRPr>
          </a:p>
        </p:txBody>
      </p:sp>
      <p:sp>
        <p:nvSpPr>
          <p:cNvPr id="2" name="TextBox 1">
            <a:extLst>
              <a:ext uri="{FF2B5EF4-FFF2-40B4-BE49-F238E27FC236}">
                <a16:creationId xmlns:a16="http://schemas.microsoft.com/office/drawing/2014/main" id="{5BDBEFBC-A1EF-8133-F7DE-B4D5DADC7BB7}"/>
              </a:ext>
            </a:extLst>
          </p:cNvPr>
          <p:cNvSpPr txBox="1"/>
          <p:nvPr/>
        </p:nvSpPr>
        <p:spPr>
          <a:xfrm>
            <a:off x="4151501" y="2054092"/>
            <a:ext cx="4137573" cy="954107"/>
          </a:xfrm>
          <a:prstGeom prst="rect">
            <a:avLst/>
          </a:prstGeom>
          <a:noFill/>
        </p:spPr>
        <p:txBody>
          <a:bodyPr wrap="square" rtlCol="0">
            <a:spAutoFit/>
          </a:bodyPr>
          <a:lstStyle/>
          <a:p>
            <a:r>
              <a:rPr lang="en-US" dirty="0">
                <a:solidFill>
                  <a:schemeClr val="bg2"/>
                </a:solidFill>
              </a:rPr>
              <a:t>A data-driven investigation into an overlooked condition where cardiomyopathy silently causes premature deaths among young people, demanding immediate attention.</a:t>
            </a:r>
          </a:p>
        </p:txBody>
      </p:sp>
      <p:sp>
        <p:nvSpPr>
          <p:cNvPr id="4" name="TextBox 3">
            <a:extLst>
              <a:ext uri="{FF2B5EF4-FFF2-40B4-BE49-F238E27FC236}">
                <a16:creationId xmlns:a16="http://schemas.microsoft.com/office/drawing/2014/main" id="{FD1DF9A6-3353-1116-AD58-73570906CFE1}"/>
              </a:ext>
            </a:extLst>
          </p:cNvPr>
          <p:cNvSpPr txBox="1"/>
          <p:nvPr/>
        </p:nvSpPr>
        <p:spPr>
          <a:xfrm>
            <a:off x="4151500" y="3357489"/>
            <a:ext cx="4137573" cy="1015663"/>
          </a:xfrm>
          <a:prstGeom prst="rect">
            <a:avLst/>
          </a:prstGeom>
          <a:noFill/>
        </p:spPr>
        <p:txBody>
          <a:bodyPr wrap="square" rtlCol="0">
            <a:spAutoFit/>
          </a:bodyPr>
          <a:lstStyle/>
          <a:p>
            <a:r>
              <a:rPr lang="en-US" sz="1100" dirty="0">
                <a:solidFill>
                  <a:schemeClr val="bg2"/>
                </a:solidFill>
              </a:rPr>
              <a:t>Project by:</a:t>
            </a:r>
            <a:br>
              <a:rPr lang="en-US" dirty="0">
                <a:solidFill>
                  <a:schemeClr val="bg2"/>
                </a:solidFill>
              </a:rPr>
            </a:br>
            <a:r>
              <a:rPr lang="en-US" sz="1200" b="1" dirty="0">
                <a:solidFill>
                  <a:schemeClr val="bg2"/>
                </a:solidFill>
              </a:rPr>
              <a:t>Madan Timilsina</a:t>
            </a:r>
          </a:p>
          <a:p>
            <a:endParaRPr lang="en-US" dirty="0">
              <a:solidFill>
                <a:schemeClr val="bg2"/>
              </a:solidFill>
            </a:endParaRPr>
          </a:p>
          <a:p>
            <a:r>
              <a:rPr lang="en-US" sz="1100" dirty="0">
                <a:solidFill>
                  <a:schemeClr val="bg2"/>
                </a:solidFill>
              </a:rPr>
              <a:t>Completed on:</a:t>
            </a:r>
            <a:br>
              <a:rPr lang="en-US" dirty="0">
                <a:solidFill>
                  <a:schemeClr val="bg2"/>
                </a:solidFill>
              </a:rPr>
            </a:br>
            <a:r>
              <a:rPr lang="en-US" sz="1200" b="1" dirty="0">
                <a:solidFill>
                  <a:schemeClr val="bg2"/>
                </a:solidFill>
              </a:rPr>
              <a:t>23 August, 2026</a:t>
            </a:r>
          </a:p>
        </p:txBody>
      </p:sp>
      <p:pic>
        <p:nvPicPr>
          <p:cNvPr id="5" name="Picture 4" descr="image.png">
            <a:extLst>
              <a:ext uri="{FF2B5EF4-FFF2-40B4-BE49-F238E27FC236}">
                <a16:creationId xmlns:a16="http://schemas.microsoft.com/office/drawing/2014/main" id="{E3D37B3D-E031-014A-C990-4136CB8DCE27}"/>
              </a:ext>
            </a:extLst>
          </p:cNvPr>
          <p:cNvPicPr>
            <a:picLocks noChangeAspect="1"/>
          </p:cNvPicPr>
          <p:nvPr/>
        </p:nvPicPr>
        <p:blipFill>
          <a:blip r:embed="rId3"/>
          <a:srcRect t="5979" b="4946"/>
          <a:stretch>
            <a:fillRect/>
          </a:stretch>
        </p:blipFill>
        <p:spPr>
          <a:xfrm rot="20512816">
            <a:off x="-267876" y="73769"/>
            <a:ext cx="5050365" cy="52666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 calcmode="lin" valueType="num">
                                      <p:cBhvr additive="base">
                                        <p:cTn id="12" dur="500" fill="hold"/>
                                        <p:tgtEl>
                                          <p:spTgt spid="57"/>
                                        </p:tgtEl>
                                        <p:attrNameLst>
                                          <p:attrName>ppt_x</p:attrName>
                                        </p:attrNameLst>
                                      </p:cBhvr>
                                      <p:tavLst>
                                        <p:tav tm="0">
                                          <p:val>
                                            <p:strVal val="#ppt_x"/>
                                          </p:val>
                                        </p:tav>
                                        <p:tav tm="100000">
                                          <p:val>
                                            <p:strVal val="#ppt_x"/>
                                          </p:val>
                                        </p:tav>
                                      </p:tavLst>
                                    </p:anim>
                                    <p:anim calcmode="lin" valueType="num">
                                      <p:cBhvr additive="base">
                                        <p:cTn id="13"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2"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grpSp>
        <p:nvGrpSpPr>
          <p:cNvPr id="64" name="Google Shape;64;p15"/>
          <p:cNvGrpSpPr/>
          <p:nvPr/>
        </p:nvGrpSpPr>
        <p:grpSpPr>
          <a:xfrm>
            <a:off x="0" y="0"/>
            <a:ext cx="9144000" cy="5143500"/>
            <a:chOff x="0" y="0"/>
            <a:chExt cx="9144000" cy="5143500"/>
          </a:xfrm>
        </p:grpSpPr>
        <p:sp>
          <p:nvSpPr>
            <p:cNvPr id="65" name="Google Shape;65;p15"/>
            <p:cNvSpPr/>
            <p:nvPr/>
          </p:nvSpPr>
          <p:spPr>
            <a:xfrm>
              <a:off x="0" y="0"/>
              <a:ext cx="9144000" cy="5143500"/>
            </a:xfrm>
            <a:prstGeom prst="rect">
              <a:avLst/>
            </a:prstGeom>
            <a:solidFill>
              <a:srgbClr val="1A2B3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 name="Google Shape;66;p15"/>
            <p:cNvSpPr/>
            <p:nvPr/>
          </p:nvSpPr>
          <p:spPr>
            <a:xfrm>
              <a:off x="0" y="0"/>
              <a:ext cx="9144000" cy="5143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67" name="Google Shape;67;p15"/>
          <p:cNvSpPr/>
          <p:nvPr/>
        </p:nvSpPr>
        <p:spPr>
          <a:xfrm>
            <a:off x="1143000" y="1714500"/>
            <a:ext cx="38100" cy="17145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 name="Google Shape;68;p15"/>
          <p:cNvSpPr txBox="1"/>
          <p:nvPr/>
        </p:nvSpPr>
        <p:spPr>
          <a:xfrm>
            <a:off x="1524000" y="1428750"/>
            <a:ext cx="6477000" cy="2286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2400" b="0" i="1" dirty="0">
                <a:solidFill>
                  <a:srgbClr val="FFFFFF"/>
                </a:solidFill>
                <a:latin typeface="Inter SemiBold"/>
                <a:ea typeface="Inter SemiBold"/>
                <a:cs typeface="Inter SemiBold"/>
                <a:sym typeface="Inter SemiBold"/>
              </a:rPr>
              <a:t>“The death of one person is a tragedy; the death of millions is a statistic.”</a:t>
            </a:r>
            <a:endParaRPr sz="2400" b="0" i="1" dirty="0">
              <a:solidFill>
                <a:srgbClr val="FFFFFF"/>
              </a:solidFill>
              <a:latin typeface="Inter SemiBold"/>
              <a:ea typeface="Inter SemiBold"/>
              <a:cs typeface="Inter SemiBold"/>
              <a:sym typeface="Inter SemiBold"/>
            </a:endParaRPr>
          </a:p>
          <a:p>
            <a:pPr marL="0" lvl="0" indent="0" algn="l" rtl="0">
              <a:spcBef>
                <a:spcPts val="1200"/>
              </a:spcBef>
              <a:spcAft>
                <a:spcPts val="0"/>
              </a:spcAft>
              <a:buNone/>
            </a:pPr>
            <a:r>
              <a:rPr lang="en" sz="1400" b="1" dirty="0">
                <a:solidFill>
                  <a:srgbClr val="007B8F"/>
                </a:solidFill>
                <a:latin typeface="Inter"/>
                <a:ea typeface="Inter"/>
                <a:cs typeface="Inter"/>
                <a:sym typeface="Inter"/>
              </a:rPr>
              <a:t>— Joseph Stalin</a:t>
            </a:r>
            <a:endParaRPr sz="1400" b="1" dirty="0">
              <a:solidFill>
                <a:srgbClr val="007B8F"/>
              </a:solidFill>
              <a:latin typeface="Inter"/>
              <a:ea typeface="Inter"/>
              <a:cs typeface="Inter"/>
              <a:sym typeface="Inte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randombar(horizontal)">
                                      <p:cBhvr>
                                        <p:cTn id="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4E177ED9-DC57-A7A7-54D9-33FC33FFD2B1}"/>
            </a:ext>
          </a:extLst>
        </p:cNvPr>
        <p:cNvGrpSpPr/>
        <p:nvPr/>
      </p:nvGrpSpPr>
      <p:grpSpPr>
        <a:xfrm>
          <a:off x="0" y="0"/>
          <a:ext cx="0" cy="0"/>
          <a:chOff x="0" y="0"/>
          <a:chExt cx="0" cy="0"/>
        </a:xfrm>
      </p:grpSpPr>
      <p:grpSp>
        <p:nvGrpSpPr>
          <p:cNvPr id="2" name="Google Shape;166;p22">
            <a:extLst>
              <a:ext uri="{FF2B5EF4-FFF2-40B4-BE49-F238E27FC236}">
                <a16:creationId xmlns:a16="http://schemas.microsoft.com/office/drawing/2014/main" id="{B705551D-DEB1-F8A3-F414-36D594BD1FA7}"/>
              </a:ext>
            </a:extLst>
          </p:cNvPr>
          <p:cNvGrpSpPr/>
          <p:nvPr/>
        </p:nvGrpSpPr>
        <p:grpSpPr>
          <a:xfrm>
            <a:off x="0" y="0"/>
            <a:ext cx="9144000" cy="5143500"/>
            <a:chOff x="0" y="0"/>
            <a:chExt cx="9144000" cy="5143500"/>
          </a:xfrm>
        </p:grpSpPr>
        <p:sp>
          <p:nvSpPr>
            <p:cNvPr id="3" name="Google Shape;167;p22">
              <a:extLst>
                <a:ext uri="{FF2B5EF4-FFF2-40B4-BE49-F238E27FC236}">
                  <a16:creationId xmlns:a16="http://schemas.microsoft.com/office/drawing/2014/main" id="{2F379F98-C12F-7B52-D945-7514EAFCA962}"/>
                </a:ext>
              </a:extLst>
            </p:cNvPr>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 name="Google Shape;168;p22">
              <a:extLst>
                <a:ext uri="{FF2B5EF4-FFF2-40B4-BE49-F238E27FC236}">
                  <a16:creationId xmlns:a16="http://schemas.microsoft.com/office/drawing/2014/main" id="{F9D71030-FC43-F5AF-E6DB-E7CAEAA16DCC}"/>
                </a:ext>
              </a:extLst>
            </p:cNvPr>
            <p:cNvSpPr/>
            <p:nvPr/>
          </p:nvSpPr>
          <p:spPr>
            <a:xfrm>
              <a:off x="381000" y="381000"/>
              <a:ext cx="571500" cy="381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 name="Google Shape;169;p22">
              <a:extLst>
                <a:ext uri="{FF2B5EF4-FFF2-40B4-BE49-F238E27FC236}">
                  <a16:creationId xmlns:a16="http://schemas.microsoft.com/office/drawing/2014/main" id="{953F5B13-0AD7-DF8E-98B0-5F6F3D272F68}"/>
                </a:ext>
              </a:extLst>
            </p:cNvPr>
            <p:cNvSpPr/>
            <p:nvPr/>
          </p:nvSpPr>
          <p:spPr>
            <a:xfrm>
              <a:off x="381000" y="952500"/>
              <a:ext cx="8382000" cy="96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27" name="Google Shape;127;p21">
            <a:extLst>
              <a:ext uri="{FF2B5EF4-FFF2-40B4-BE49-F238E27FC236}">
                <a16:creationId xmlns:a16="http://schemas.microsoft.com/office/drawing/2014/main" id="{4724575A-A79E-1CA1-7E18-CCEE775AF6E1}"/>
              </a:ext>
            </a:extLst>
          </p:cNvPr>
          <p:cNvSpPr txBox="1"/>
          <p:nvPr/>
        </p:nvSpPr>
        <p:spPr>
          <a:xfrm>
            <a:off x="381000" y="495300"/>
            <a:ext cx="8294649"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0" dirty="0">
                <a:solidFill>
                  <a:srgbClr val="1A2B3C"/>
                </a:solidFill>
                <a:latin typeface="Inter SemiBold"/>
                <a:ea typeface="Inter SemiBold"/>
                <a:cs typeface="Inter SemiBold"/>
                <a:sym typeface="Inter SemiBold"/>
              </a:rPr>
              <a:t>Objectives</a:t>
            </a:r>
            <a:endParaRPr sz="2100" b="0" dirty="0">
              <a:solidFill>
                <a:srgbClr val="1A2B3C"/>
              </a:solidFill>
              <a:latin typeface="Inter SemiBold"/>
              <a:ea typeface="Inter SemiBold"/>
              <a:cs typeface="Inter SemiBold"/>
              <a:sym typeface="Inter SemiBold"/>
            </a:endParaRPr>
          </a:p>
        </p:txBody>
      </p:sp>
      <p:pic>
        <p:nvPicPr>
          <p:cNvPr id="32" name="Picture 31" descr="image.png">
            <a:extLst>
              <a:ext uri="{FF2B5EF4-FFF2-40B4-BE49-F238E27FC236}">
                <a16:creationId xmlns:a16="http://schemas.microsoft.com/office/drawing/2014/main" id="{2A940A6E-7B7D-26CD-ED2F-997791E9CF7D}"/>
              </a:ext>
            </a:extLst>
          </p:cNvPr>
          <p:cNvPicPr>
            <a:picLocks noChangeAspect="1"/>
          </p:cNvPicPr>
          <p:nvPr/>
        </p:nvPicPr>
        <p:blipFill>
          <a:blip r:embed="rId3"/>
          <a:stretch>
            <a:fillRect/>
          </a:stretch>
        </p:blipFill>
        <p:spPr>
          <a:xfrm>
            <a:off x="366478" y="1494392"/>
            <a:ext cx="3539353" cy="1947622"/>
          </a:xfrm>
          <a:prstGeom prst="rect">
            <a:avLst/>
          </a:prstGeom>
        </p:spPr>
      </p:pic>
      <p:sp>
        <p:nvSpPr>
          <p:cNvPr id="19" name="TextBox 18">
            <a:extLst>
              <a:ext uri="{FF2B5EF4-FFF2-40B4-BE49-F238E27FC236}">
                <a16:creationId xmlns:a16="http://schemas.microsoft.com/office/drawing/2014/main" id="{27B1EDC0-EE54-4831-4E80-B7B8FFCD5ECA}"/>
              </a:ext>
            </a:extLst>
          </p:cNvPr>
          <p:cNvSpPr txBox="1"/>
          <p:nvPr/>
        </p:nvSpPr>
        <p:spPr>
          <a:xfrm>
            <a:off x="569641" y="1731538"/>
            <a:ext cx="3035920" cy="292388"/>
          </a:xfrm>
          <a:prstGeom prst="rect">
            <a:avLst/>
          </a:prstGeom>
          <a:noFill/>
        </p:spPr>
        <p:txBody>
          <a:bodyPr wrap="square" rtlCol="0">
            <a:spAutoFit/>
          </a:bodyPr>
          <a:lstStyle/>
          <a:p>
            <a:pPr algn="l"/>
            <a:r>
              <a:rPr lang="en-US" sz="1300" b="1" dirty="0"/>
              <a:t>RESEARCH QUESTION</a:t>
            </a:r>
            <a:endParaRPr lang="en-CA" sz="1300" b="1" dirty="0"/>
          </a:p>
        </p:txBody>
      </p:sp>
      <p:sp>
        <p:nvSpPr>
          <p:cNvPr id="24" name="TextBox 23">
            <a:extLst>
              <a:ext uri="{FF2B5EF4-FFF2-40B4-BE49-F238E27FC236}">
                <a16:creationId xmlns:a16="http://schemas.microsoft.com/office/drawing/2014/main" id="{D0C4104A-C191-CCE6-BE22-78208FA10BCA}"/>
              </a:ext>
            </a:extLst>
          </p:cNvPr>
          <p:cNvSpPr txBox="1"/>
          <p:nvPr/>
        </p:nvSpPr>
        <p:spPr>
          <a:xfrm>
            <a:off x="666750" y="2253328"/>
            <a:ext cx="2938811" cy="876458"/>
          </a:xfrm>
          <a:prstGeom prst="rect">
            <a:avLst/>
          </a:prstGeom>
          <a:noFill/>
        </p:spPr>
        <p:txBody>
          <a:bodyPr wrap="square" lIns="0" tIns="0" rIns="0" bIns="0" anchor="t">
            <a:spAutoFit/>
          </a:bodyPr>
          <a:lstStyle/>
          <a:p>
            <a:pPr algn="l">
              <a:lnSpc>
                <a:spcPts val="2400"/>
              </a:lnSpc>
            </a:pPr>
            <a:r>
              <a:rPr lang="en-US" sz="1100" b="0" i="0" u="none" dirty="0">
                <a:solidFill>
                  <a:srgbClr val="334155"/>
                </a:solidFill>
                <a:latin typeface="Lato SemiBold"/>
              </a:rPr>
              <a:t>How does cardiomyopathy quietly drive mortality rates among America's youth compared to broader heart disease trends?</a:t>
            </a:r>
          </a:p>
        </p:txBody>
      </p:sp>
      <p:pic>
        <p:nvPicPr>
          <p:cNvPr id="34" name="Picture 33" descr="image.png">
            <a:extLst>
              <a:ext uri="{FF2B5EF4-FFF2-40B4-BE49-F238E27FC236}">
                <a16:creationId xmlns:a16="http://schemas.microsoft.com/office/drawing/2014/main" id="{3CD687CF-C50C-9877-0D24-FFEE6DAA3ACE}"/>
              </a:ext>
            </a:extLst>
          </p:cNvPr>
          <p:cNvPicPr>
            <a:picLocks noChangeAspect="1"/>
          </p:cNvPicPr>
          <p:nvPr/>
        </p:nvPicPr>
        <p:blipFill>
          <a:blip r:embed="rId3"/>
          <a:stretch>
            <a:fillRect/>
          </a:stretch>
        </p:blipFill>
        <p:spPr>
          <a:xfrm>
            <a:off x="4272309" y="1494392"/>
            <a:ext cx="3539353" cy="1947622"/>
          </a:xfrm>
          <a:prstGeom prst="rect">
            <a:avLst/>
          </a:prstGeom>
        </p:spPr>
      </p:pic>
      <p:sp>
        <p:nvSpPr>
          <p:cNvPr id="28" name="TextBox 27">
            <a:extLst>
              <a:ext uri="{FF2B5EF4-FFF2-40B4-BE49-F238E27FC236}">
                <a16:creationId xmlns:a16="http://schemas.microsoft.com/office/drawing/2014/main" id="{5D93DF68-E6CD-E50D-7CA4-47C7BA6DE543}"/>
              </a:ext>
            </a:extLst>
          </p:cNvPr>
          <p:cNvSpPr txBox="1"/>
          <p:nvPr/>
        </p:nvSpPr>
        <p:spPr>
          <a:xfrm>
            <a:off x="4394745" y="1731538"/>
            <a:ext cx="3035920" cy="292388"/>
          </a:xfrm>
          <a:prstGeom prst="rect">
            <a:avLst/>
          </a:prstGeom>
          <a:noFill/>
        </p:spPr>
        <p:txBody>
          <a:bodyPr wrap="square" rtlCol="0">
            <a:spAutoFit/>
          </a:bodyPr>
          <a:lstStyle/>
          <a:p>
            <a:pPr algn="l"/>
            <a:r>
              <a:rPr lang="en-US" sz="1300" b="1" dirty="0"/>
              <a:t>CORE OBJECTIVE</a:t>
            </a:r>
            <a:endParaRPr lang="en-CA" sz="1300" b="1" dirty="0"/>
          </a:p>
        </p:txBody>
      </p:sp>
      <p:sp>
        <p:nvSpPr>
          <p:cNvPr id="30" name="TextBox 29">
            <a:extLst>
              <a:ext uri="{FF2B5EF4-FFF2-40B4-BE49-F238E27FC236}">
                <a16:creationId xmlns:a16="http://schemas.microsoft.com/office/drawing/2014/main" id="{07594E87-D9AF-AA4A-E1EF-B274FE967C3F}"/>
              </a:ext>
            </a:extLst>
          </p:cNvPr>
          <p:cNvSpPr txBox="1"/>
          <p:nvPr/>
        </p:nvSpPr>
        <p:spPr>
          <a:xfrm>
            <a:off x="4491854" y="2253328"/>
            <a:ext cx="2938811" cy="876458"/>
          </a:xfrm>
          <a:prstGeom prst="rect">
            <a:avLst/>
          </a:prstGeom>
          <a:noFill/>
        </p:spPr>
        <p:txBody>
          <a:bodyPr wrap="square" lIns="0" tIns="0" rIns="0" bIns="0" anchor="t">
            <a:spAutoFit/>
          </a:bodyPr>
          <a:lstStyle/>
          <a:p>
            <a:pPr algn="l">
              <a:lnSpc>
                <a:spcPts val="2400"/>
              </a:lnSpc>
            </a:pPr>
            <a:r>
              <a:rPr lang="en-US" sz="1100" b="0" i="0" u="none" dirty="0">
                <a:solidFill>
                  <a:srgbClr val="334155"/>
                </a:solidFill>
                <a:latin typeface="Lato SemiBold"/>
              </a:rPr>
              <a:t>To challenge the prevailing assumption that heart disease is strictly an older adult's affliction.</a:t>
            </a:r>
          </a:p>
        </p:txBody>
      </p:sp>
    </p:spTree>
    <p:extLst>
      <p:ext uri="{BB962C8B-B14F-4D97-AF65-F5344CB8AC3E}">
        <p14:creationId xmlns:p14="http://schemas.microsoft.com/office/powerpoint/2010/main" val="1962580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1000"/>
                                        <p:tgtEl>
                                          <p:spTgt spid="127"/>
                                        </p:tgtEl>
                                      </p:cBhvr>
                                    </p:animEffect>
                                    <p:anim calcmode="lin" valueType="num">
                                      <p:cBhvr>
                                        <p:cTn id="8" dur="1000" fill="hold"/>
                                        <p:tgtEl>
                                          <p:spTgt spid="127"/>
                                        </p:tgtEl>
                                        <p:attrNameLst>
                                          <p:attrName>ppt_x</p:attrName>
                                        </p:attrNameLst>
                                      </p:cBhvr>
                                      <p:tavLst>
                                        <p:tav tm="0">
                                          <p:val>
                                            <p:strVal val="#ppt_x"/>
                                          </p:val>
                                        </p:tav>
                                        <p:tav tm="100000">
                                          <p:val>
                                            <p:strVal val="#ppt_x"/>
                                          </p:val>
                                        </p:tav>
                                      </p:tavLst>
                                    </p:anim>
                                    <p:anim calcmode="lin" valueType="num">
                                      <p:cBhvr>
                                        <p:cTn id="9" dur="1000" fill="hold"/>
                                        <p:tgtEl>
                                          <p:spTgt spid="1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2"/>
                                        </p:tgtEl>
                                        <p:attrNameLst>
                                          <p:attrName>style.visibility</p:attrName>
                                        </p:attrNameLst>
                                      </p:cBhvr>
                                      <p:to>
                                        <p:strVal val="visible"/>
                                      </p:to>
                                    </p:set>
                                    <p:anim calcmode="lin" valueType="num">
                                      <p:cBhvr additive="base">
                                        <p:cTn id="14" dur="500" fill="hold"/>
                                        <p:tgtEl>
                                          <p:spTgt spid="32"/>
                                        </p:tgtEl>
                                        <p:attrNameLst>
                                          <p:attrName>ppt_x</p:attrName>
                                        </p:attrNameLst>
                                      </p:cBhvr>
                                      <p:tavLst>
                                        <p:tav tm="0">
                                          <p:val>
                                            <p:strVal val="#ppt_x"/>
                                          </p:val>
                                        </p:tav>
                                        <p:tav tm="100000">
                                          <p:val>
                                            <p:strVal val="#ppt_x"/>
                                          </p:val>
                                        </p:tav>
                                      </p:tavLst>
                                    </p:anim>
                                    <p:anim calcmode="lin" valueType="num">
                                      <p:cBhvr additive="base">
                                        <p:cTn id="15"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additive="base">
                                        <p:cTn id="20" dur="500" fill="hold"/>
                                        <p:tgtEl>
                                          <p:spTgt spid="19"/>
                                        </p:tgtEl>
                                        <p:attrNameLst>
                                          <p:attrName>ppt_x</p:attrName>
                                        </p:attrNameLst>
                                      </p:cBhvr>
                                      <p:tavLst>
                                        <p:tav tm="0">
                                          <p:val>
                                            <p:strVal val="#ppt_x"/>
                                          </p:val>
                                        </p:tav>
                                        <p:tav tm="100000">
                                          <p:val>
                                            <p:strVal val="#ppt_x"/>
                                          </p:val>
                                        </p:tav>
                                      </p:tavLst>
                                    </p:anim>
                                    <p:anim calcmode="lin" valueType="num">
                                      <p:cBhvr additive="base">
                                        <p:cTn id="2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 calcmode="lin" valueType="num">
                                      <p:cBhvr additive="base">
                                        <p:cTn id="26" dur="500" fill="hold"/>
                                        <p:tgtEl>
                                          <p:spTgt spid="24"/>
                                        </p:tgtEl>
                                        <p:attrNameLst>
                                          <p:attrName>ppt_x</p:attrName>
                                        </p:attrNameLst>
                                      </p:cBhvr>
                                      <p:tavLst>
                                        <p:tav tm="0">
                                          <p:val>
                                            <p:strVal val="#ppt_x"/>
                                          </p:val>
                                        </p:tav>
                                        <p:tav tm="100000">
                                          <p:val>
                                            <p:strVal val="#ppt_x"/>
                                          </p:val>
                                        </p:tav>
                                      </p:tavLst>
                                    </p:anim>
                                    <p:anim calcmode="lin" valueType="num">
                                      <p:cBhvr additive="base">
                                        <p:cTn id="27"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 calcmode="lin" valueType="num">
                                      <p:cBhvr additive="base">
                                        <p:cTn id="32" dur="500" fill="hold"/>
                                        <p:tgtEl>
                                          <p:spTgt spid="34"/>
                                        </p:tgtEl>
                                        <p:attrNameLst>
                                          <p:attrName>ppt_x</p:attrName>
                                        </p:attrNameLst>
                                      </p:cBhvr>
                                      <p:tavLst>
                                        <p:tav tm="0">
                                          <p:val>
                                            <p:strVal val="#ppt_x"/>
                                          </p:val>
                                        </p:tav>
                                        <p:tav tm="100000">
                                          <p:val>
                                            <p:strVal val="#ppt_x"/>
                                          </p:val>
                                        </p:tav>
                                      </p:tavLst>
                                    </p:anim>
                                    <p:anim calcmode="lin" valueType="num">
                                      <p:cBhvr additive="base">
                                        <p:cTn id="33"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 calcmode="lin" valueType="num">
                                      <p:cBhvr additive="base">
                                        <p:cTn id="38" dur="500" fill="hold"/>
                                        <p:tgtEl>
                                          <p:spTgt spid="28"/>
                                        </p:tgtEl>
                                        <p:attrNameLst>
                                          <p:attrName>ppt_x</p:attrName>
                                        </p:attrNameLst>
                                      </p:cBhvr>
                                      <p:tavLst>
                                        <p:tav tm="0">
                                          <p:val>
                                            <p:strVal val="#ppt_x"/>
                                          </p:val>
                                        </p:tav>
                                        <p:tav tm="100000">
                                          <p:val>
                                            <p:strVal val="#ppt_x"/>
                                          </p:val>
                                        </p:tav>
                                      </p:tavLst>
                                    </p:anim>
                                    <p:anim calcmode="lin" valueType="num">
                                      <p:cBhvr additive="base">
                                        <p:cTn id="39"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0"/>
                                        </p:tgtEl>
                                        <p:attrNameLst>
                                          <p:attrName>style.visibility</p:attrName>
                                        </p:attrNameLst>
                                      </p:cBhvr>
                                      <p:to>
                                        <p:strVal val="visible"/>
                                      </p:to>
                                    </p:set>
                                    <p:anim calcmode="lin" valueType="num">
                                      <p:cBhvr additive="base">
                                        <p:cTn id="44" dur="500" fill="hold"/>
                                        <p:tgtEl>
                                          <p:spTgt spid="30"/>
                                        </p:tgtEl>
                                        <p:attrNameLst>
                                          <p:attrName>ppt_x</p:attrName>
                                        </p:attrNameLst>
                                      </p:cBhvr>
                                      <p:tavLst>
                                        <p:tav tm="0">
                                          <p:val>
                                            <p:strVal val="#ppt_x"/>
                                          </p:val>
                                        </p:tav>
                                        <p:tav tm="100000">
                                          <p:val>
                                            <p:strVal val="#ppt_x"/>
                                          </p:val>
                                        </p:tav>
                                      </p:tavLst>
                                    </p:anim>
                                    <p:anim calcmode="lin" valueType="num">
                                      <p:cBhvr additive="base">
                                        <p:cTn id="45"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P spid="19" grpId="0"/>
      <p:bldP spid="24" grpId="0"/>
      <p:bldP spid="28" grpId="0"/>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FC6B6CCB-6316-463D-C597-2BB4164D9B36}"/>
            </a:ext>
          </a:extLst>
        </p:cNvPr>
        <p:cNvGrpSpPr/>
        <p:nvPr/>
      </p:nvGrpSpPr>
      <p:grpSpPr>
        <a:xfrm>
          <a:off x="0" y="0"/>
          <a:ext cx="0" cy="0"/>
          <a:chOff x="0" y="0"/>
          <a:chExt cx="0" cy="0"/>
        </a:xfrm>
      </p:grpSpPr>
      <p:grpSp>
        <p:nvGrpSpPr>
          <p:cNvPr id="2" name="Google Shape;166;p22">
            <a:extLst>
              <a:ext uri="{FF2B5EF4-FFF2-40B4-BE49-F238E27FC236}">
                <a16:creationId xmlns:a16="http://schemas.microsoft.com/office/drawing/2014/main" id="{F38CD1A4-ACB4-CD1D-8D55-7B2744D43615}"/>
              </a:ext>
            </a:extLst>
          </p:cNvPr>
          <p:cNvGrpSpPr/>
          <p:nvPr/>
        </p:nvGrpSpPr>
        <p:grpSpPr>
          <a:xfrm>
            <a:off x="0" y="0"/>
            <a:ext cx="9144000" cy="5143500"/>
            <a:chOff x="0" y="0"/>
            <a:chExt cx="9144000" cy="5143500"/>
          </a:xfrm>
        </p:grpSpPr>
        <p:sp>
          <p:nvSpPr>
            <p:cNvPr id="3" name="Google Shape;167;p22">
              <a:extLst>
                <a:ext uri="{FF2B5EF4-FFF2-40B4-BE49-F238E27FC236}">
                  <a16:creationId xmlns:a16="http://schemas.microsoft.com/office/drawing/2014/main" id="{90BCBC9F-5341-7DDE-8ADB-30757941BC74}"/>
                </a:ext>
              </a:extLst>
            </p:cNvPr>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 name="Google Shape;168;p22">
              <a:extLst>
                <a:ext uri="{FF2B5EF4-FFF2-40B4-BE49-F238E27FC236}">
                  <a16:creationId xmlns:a16="http://schemas.microsoft.com/office/drawing/2014/main" id="{046DD0C9-F0F7-9CCB-07BA-52A2B060B864}"/>
                </a:ext>
              </a:extLst>
            </p:cNvPr>
            <p:cNvSpPr/>
            <p:nvPr/>
          </p:nvSpPr>
          <p:spPr>
            <a:xfrm>
              <a:off x="381000" y="381000"/>
              <a:ext cx="571500" cy="381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 name="Google Shape;169;p22">
              <a:extLst>
                <a:ext uri="{FF2B5EF4-FFF2-40B4-BE49-F238E27FC236}">
                  <a16:creationId xmlns:a16="http://schemas.microsoft.com/office/drawing/2014/main" id="{5B86BB2E-B184-3C64-64EF-2B293BB29BFA}"/>
                </a:ext>
              </a:extLst>
            </p:cNvPr>
            <p:cNvSpPr/>
            <p:nvPr/>
          </p:nvSpPr>
          <p:spPr>
            <a:xfrm>
              <a:off x="381000" y="952500"/>
              <a:ext cx="8382000" cy="96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27" name="Google Shape;127;p21">
            <a:extLst>
              <a:ext uri="{FF2B5EF4-FFF2-40B4-BE49-F238E27FC236}">
                <a16:creationId xmlns:a16="http://schemas.microsoft.com/office/drawing/2014/main" id="{97BFA11C-9846-664F-1F57-E3A87D950250}"/>
              </a:ext>
            </a:extLst>
          </p:cNvPr>
          <p:cNvSpPr txBox="1"/>
          <p:nvPr/>
        </p:nvSpPr>
        <p:spPr>
          <a:xfrm>
            <a:off x="381000" y="495300"/>
            <a:ext cx="8294649"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0" dirty="0">
                <a:solidFill>
                  <a:srgbClr val="1A2B3C"/>
                </a:solidFill>
                <a:latin typeface="Inter SemiBold"/>
                <a:ea typeface="Inter SemiBold"/>
                <a:cs typeface="Inter SemiBold"/>
                <a:sym typeface="Inter SemiBold"/>
              </a:rPr>
              <a:t>Study Parameters</a:t>
            </a:r>
            <a:endParaRPr sz="2100" b="0" dirty="0">
              <a:solidFill>
                <a:srgbClr val="1A2B3C"/>
              </a:solidFill>
              <a:latin typeface="Inter SemiBold"/>
              <a:ea typeface="Inter SemiBold"/>
              <a:cs typeface="Inter SemiBold"/>
              <a:sym typeface="Inter SemiBold"/>
            </a:endParaRPr>
          </a:p>
        </p:txBody>
      </p:sp>
      <p:pic>
        <p:nvPicPr>
          <p:cNvPr id="32" name="Picture 31" descr="image.png">
            <a:extLst>
              <a:ext uri="{FF2B5EF4-FFF2-40B4-BE49-F238E27FC236}">
                <a16:creationId xmlns:a16="http://schemas.microsoft.com/office/drawing/2014/main" id="{5C7DC4CC-9979-3DED-40FB-D904AE9E0C41}"/>
              </a:ext>
            </a:extLst>
          </p:cNvPr>
          <p:cNvPicPr>
            <a:picLocks noChangeAspect="1"/>
          </p:cNvPicPr>
          <p:nvPr/>
        </p:nvPicPr>
        <p:blipFill>
          <a:blip r:embed="rId3"/>
          <a:stretch>
            <a:fillRect/>
          </a:stretch>
        </p:blipFill>
        <p:spPr>
          <a:xfrm>
            <a:off x="366478" y="1204464"/>
            <a:ext cx="6673659" cy="3443736"/>
          </a:xfrm>
          <a:prstGeom prst="rect">
            <a:avLst/>
          </a:prstGeom>
        </p:spPr>
      </p:pic>
      <p:sp>
        <p:nvSpPr>
          <p:cNvPr id="10" name="TextBox 9">
            <a:extLst>
              <a:ext uri="{FF2B5EF4-FFF2-40B4-BE49-F238E27FC236}">
                <a16:creationId xmlns:a16="http://schemas.microsoft.com/office/drawing/2014/main" id="{334FAABD-865B-C80D-BB11-033252594570}"/>
              </a:ext>
            </a:extLst>
          </p:cNvPr>
          <p:cNvSpPr txBox="1"/>
          <p:nvPr/>
        </p:nvSpPr>
        <p:spPr>
          <a:xfrm>
            <a:off x="666750" y="1472270"/>
            <a:ext cx="6239572" cy="3646447"/>
          </a:xfrm>
          <a:prstGeom prst="rect">
            <a:avLst/>
          </a:prstGeom>
          <a:noFill/>
        </p:spPr>
        <p:txBody>
          <a:bodyPr wrap="square" lIns="0" tIns="0" rIns="0" bIns="0" anchor="t">
            <a:spAutoFit/>
          </a:bodyPr>
          <a:lstStyle/>
          <a:p>
            <a:pPr marL="171450" indent="-171450" algn="l">
              <a:lnSpc>
                <a:spcPts val="2400"/>
              </a:lnSpc>
              <a:buFont typeface="Wingdings" panose="05000000000000000000" pitchFamily="2" charset="2"/>
              <a:buChar char="Ø"/>
            </a:pPr>
            <a:r>
              <a:rPr lang="en-US" sz="1100" dirty="0">
                <a:solidFill>
                  <a:srgbClr val="334155"/>
                </a:solidFill>
                <a:latin typeface="Lato SemiBold"/>
              </a:rPr>
              <a:t>Timeframe: 2018 - 2024</a:t>
            </a:r>
          </a:p>
          <a:p>
            <a:pPr marL="171450" indent="-171450" algn="l">
              <a:lnSpc>
                <a:spcPts val="2400"/>
              </a:lnSpc>
              <a:buFont typeface="Wingdings" panose="05000000000000000000" pitchFamily="2" charset="2"/>
              <a:buChar char="Ø"/>
            </a:pPr>
            <a:r>
              <a:rPr lang="en-US" sz="1100" dirty="0">
                <a:solidFill>
                  <a:srgbClr val="334155"/>
                </a:solidFill>
                <a:latin typeface="Lato SemiBold"/>
              </a:rPr>
              <a:t>Target age: 0 – 44</a:t>
            </a:r>
          </a:p>
          <a:p>
            <a:pPr marL="171450" indent="-171450" algn="l">
              <a:lnSpc>
                <a:spcPts val="2400"/>
              </a:lnSpc>
              <a:buFont typeface="Wingdings" panose="05000000000000000000" pitchFamily="2" charset="2"/>
              <a:buChar char="Ø"/>
            </a:pPr>
            <a:r>
              <a:rPr lang="en-US" sz="1100" dirty="0">
                <a:solidFill>
                  <a:srgbClr val="334155"/>
                </a:solidFill>
                <a:latin typeface="Lato SemiBold"/>
              </a:rPr>
              <a:t>Data Focus: The broad NCHS "Diseases of Heart" category with most common heart disease (Cardiomyopathy, Heart Failure, Chronic Ischemic heart disease, and heart attack) to subcategory Cardiomyopathy.</a:t>
            </a:r>
          </a:p>
          <a:p>
            <a:pPr marL="171450" indent="-171450" algn="l">
              <a:lnSpc>
                <a:spcPts val="2400"/>
              </a:lnSpc>
              <a:buFont typeface="Wingdings" panose="05000000000000000000" pitchFamily="2" charset="2"/>
              <a:buChar char="Ø"/>
            </a:pPr>
            <a:r>
              <a:rPr lang="en-US" sz="1100" dirty="0">
                <a:solidFill>
                  <a:srgbClr val="334155"/>
                </a:solidFill>
                <a:latin typeface="Lato SemiBold"/>
              </a:rPr>
              <a:t>Geography: US 50 states + Washington DC</a:t>
            </a:r>
          </a:p>
          <a:p>
            <a:pPr marL="171450" indent="-171450" algn="l">
              <a:lnSpc>
                <a:spcPts val="2400"/>
              </a:lnSpc>
              <a:buFont typeface="Wingdings" panose="05000000000000000000" pitchFamily="2" charset="2"/>
              <a:buChar char="Ø"/>
            </a:pPr>
            <a:r>
              <a:rPr lang="en-US" sz="1100" dirty="0">
                <a:solidFill>
                  <a:srgbClr val="334155"/>
                </a:solidFill>
                <a:latin typeface="Lato SemiBold"/>
              </a:rPr>
              <a:t>Sex: Male and Female (by birth)</a:t>
            </a:r>
          </a:p>
          <a:p>
            <a:pPr marL="171450" indent="-171450" algn="l">
              <a:lnSpc>
                <a:spcPts val="2400"/>
              </a:lnSpc>
              <a:buFont typeface="Wingdings" panose="05000000000000000000" pitchFamily="2" charset="2"/>
              <a:buChar char="Ø"/>
            </a:pPr>
            <a:r>
              <a:rPr lang="en-US" sz="1100" dirty="0">
                <a:solidFill>
                  <a:srgbClr val="334155"/>
                </a:solidFill>
                <a:latin typeface="Lato SemiBold"/>
              </a:rPr>
              <a:t>Race (experimental): Black, White, American Indian and Alaskan Native, Asian (Chinese, Japanese, Korean, Vietnamese, Filipino, Asian Indian, Other Asian), Pacific Islanders (Hawaiian, Samoan, Guamanian or Chamorro, Other Pacific Islander), Other / multi racial</a:t>
            </a:r>
          </a:p>
          <a:p>
            <a:pPr marL="171450" indent="-171450" algn="l">
              <a:lnSpc>
                <a:spcPts val="2400"/>
              </a:lnSpc>
              <a:buFont typeface="Wingdings" panose="05000000000000000000" pitchFamily="2" charset="2"/>
              <a:buChar char="Ø"/>
            </a:pPr>
            <a:endParaRPr lang="en-US" sz="1100" dirty="0">
              <a:solidFill>
                <a:srgbClr val="334155"/>
              </a:solidFill>
              <a:latin typeface="Lato SemiBold"/>
            </a:endParaRPr>
          </a:p>
          <a:p>
            <a:pPr algn="l">
              <a:lnSpc>
                <a:spcPts val="2400"/>
              </a:lnSpc>
            </a:pPr>
            <a:endParaRPr lang="en-US" sz="1100" b="0" i="0" u="none" dirty="0">
              <a:solidFill>
                <a:srgbClr val="334155"/>
              </a:solidFill>
              <a:latin typeface="Lato SemiBold"/>
            </a:endParaRPr>
          </a:p>
        </p:txBody>
      </p:sp>
    </p:spTree>
    <p:extLst>
      <p:ext uri="{BB962C8B-B14F-4D97-AF65-F5344CB8AC3E}">
        <p14:creationId xmlns:p14="http://schemas.microsoft.com/office/powerpoint/2010/main" val="1607572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wheel(1)">
                                      <p:cBhvr>
                                        <p:cTn id="7" dur="2000"/>
                                        <p:tgtEl>
                                          <p:spTgt spid="1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additive="base">
                                        <p:cTn id="12" dur="500" fill="hold"/>
                                        <p:tgtEl>
                                          <p:spTgt spid="32"/>
                                        </p:tgtEl>
                                        <p:attrNameLst>
                                          <p:attrName>ppt_x</p:attrName>
                                        </p:attrNameLst>
                                      </p:cBhvr>
                                      <p:tavLst>
                                        <p:tav tm="0">
                                          <p:val>
                                            <p:strVal val="#ppt_x"/>
                                          </p:val>
                                        </p:tav>
                                        <p:tav tm="100000">
                                          <p:val>
                                            <p:strVal val="#ppt_x"/>
                                          </p:val>
                                        </p:tav>
                                      </p:tavLst>
                                    </p:anim>
                                    <p:anim calcmode="lin" valueType="num">
                                      <p:cBhvr additive="base">
                                        <p:cTn id="1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ppt_x"/>
                                          </p:val>
                                        </p:tav>
                                        <p:tav tm="100000">
                                          <p:val>
                                            <p:strVal val="#ppt_x"/>
                                          </p:val>
                                        </p:tav>
                                      </p:tavLst>
                                    </p:anim>
                                    <p:anim calcmode="lin" valueType="num">
                                      <p:cBhvr additive="base">
                                        <p:cTn id="1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a:extLst>
            <a:ext uri="{FF2B5EF4-FFF2-40B4-BE49-F238E27FC236}">
              <a16:creationId xmlns:a16="http://schemas.microsoft.com/office/drawing/2014/main" id="{7E40E38A-AB0F-CD27-7DF6-7781D8AB7741}"/>
            </a:ext>
          </a:extLst>
        </p:cNvPr>
        <p:cNvGrpSpPr/>
        <p:nvPr/>
      </p:nvGrpSpPr>
      <p:grpSpPr>
        <a:xfrm>
          <a:off x="0" y="0"/>
          <a:ext cx="0" cy="0"/>
          <a:chOff x="0" y="0"/>
          <a:chExt cx="0" cy="0"/>
        </a:xfrm>
      </p:grpSpPr>
      <p:grpSp>
        <p:nvGrpSpPr>
          <p:cNvPr id="73" name="Google Shape;73;p16">
            <a:extLst>
              <a:ext uri="{FF2B5EF4-FFF2-40B4-BE49-F238E27FC236}">
                <a16:creationId xmlns:a16="http://schemas.microsoft.com/office/drawing/2014/main" id="{C7A74E29-F266-27F6-758A-8D00E932882F}"/>
              </a:ext>
            </a:extLst>
          </p:cNvPr>
          <p:cNvGrpSpPr/>
          <p:nvPr/>
        </p:nvGrpSpPr>
        <p:grpSpPr>
          <a:xfrm>
            <a:off x="1714500" y="1619250"/>
            <a:ext cx="5715000" cy="1905000"/>
            <a:chOff x="0" y="0"/>
            <a:chExt cx="5715000" cy="1905000"/>
          </a:xfrm>
        </p:grpSpPr>
        <p:sp>
          <p:nvSpPr>
            <p:cNvPr id="74" name="Google Shape;74;p16">
              <a:extLst>
                <a:ext uri="{FF2B5EF4-FFF2-40B4-BE49-F238E27FC236}">
                  <a16:creationId xmlns:a16="http://schemas.microsoft.com/office/drawing/2014/main" id="{110983EA-0ECF-5CAF-D4FE-170CA24FB0E7}"/>
                </a:ext>
              </a:extLst>
            </p:cNvPr>
            <p:cNvSpPr/>
            <p:nvPr/>
          </p:nvSpPr>
          <p:spPr>
            <a:xfrm>
              <a:off x="0" y="0"/>
              <a:ext cx="5715000" cy="1905000"/>
            </a:xfrm>
            <a:prstGeom prst="rect">
              <a:avLst/>
            </a:prstGeom>
            <a:solidFill>
              <a:srgbClr val="000000">
                <a:alpha val="0"/>
              </a:srgbClr>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5" name="Google Shape;75;p16">
              <a:extLst>
                <a:ext uri="{FF2B5EF4-FFF2-40B4-BE49-F238E27FC236}">
                  <a16:creationId xmlns:a16="http://schemas.microsoft.com/office/drawing/2014/main" id="{4D86FD4F-D9BA-447B-7230-18FC6C47E3A3}"/>
                </a:ext>
              </a:extLst>
            </p:cNvPr>
            <p:cNvSpPr txBox="1"/>
            <p:nvPr/>
          </p:nvSpPr>
          <p:spPr>
            <a:xfrm>
              <a:off x="0" y="0"/>
              <a:ext cx="5715000" cy="19050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CA" sz="3600" b="1" i="0" u="none" strike="noStrike" kern="0" cap="none" spc="0" normalizeH="0" baseline="0" noProof="0" dirty="0">
                  <a:ln>
                    <a:noFill/>
                  </a:ln>
                  <a:solidFill>
                    <a:srgbClr val="FFFFFF"/>
                  </a:solidFill>
                  <a:effectLst/>
                  <a:uLnTx/>
                  <a:uFillTx/>
                  <a:latin typeface="Inter"/>
                  <a:ea typeface="Inter"/>
                  <a:cs typeface="Inter"/>
                  <a:sym typeface="Inter"/>
                </a:rPr>
                <a:t>Data Architecture &amp; Methodology </a:t>
              </a:r>
            </a:p>
          </p:txBody>
        </p:sp>
      </p:grpSp>
    </p:spTree>
    <p:extLst>
      <p:ext uri="{BB962C8B-B14F-4D97-AF65-F5344CB8AC3E}">
        <p14:creationId xmlns:p14="http://schemas.microsoft.com/office/powerpoint/2010/main" val="24237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p:cTn id="7" dur="500" fill="hold"/>
                                        <p:tgtEl>
                                          <p:spTgt spid="73"/>
                                        </p:tgtEl>
                                        <p:attrNameLst>
                                          <p:attrName>ppt_w</p:attrName>
                                        </p:attrNameLst>
                                      </p:cBhvr>
                                      <p:tavLst>
                                        <p:tav tm="0">
                                          <p:val>
                                            <p:fltVal val="0"/>
                                          </p:val>
                                        </p:tav>
                                        <p:tav tm="100000">
                                          <p:val>
                                            <p:strVal val="#ppt_w"/>
                                          </p:val>
                                        </p:tav>
                                      </p:tavLst>
                                    </p:anim>
                                    <p:anim calcmode="lin" valueType="num">
                                      <p:cBhvr>
                                        <p:cTn id="8" dur="500" fill="hold"/>
                                        <p:tgtEl>
                                          <p:spTgt spid="73"/>
                                        </p:tgtEl>
                                        <p:attrNameLst>
                                          <p:attrName>ppt_h</p:attrName>
                                        </p:attrNameLst>
                                      </p:cBhvr>
                                      <p:tavLst>
                                        <p:tav tm="0">
                                          <p:val>
                                            <p:fltVal val="0"/>
                                          </p:val>
                                        </p:tav>
                                        <p:tav tm="100000">
                                          <p:val>
                                            <p:strVal val="#ppt_h"/>
                                          </p:val>
                                        </p:tav>
                                      </p:tavLst>
                                    </p:anim>
                                    <p:animEffect transition="in" filter="fade">
                                      <p:cBhvr>
                                        <p:cTn id="9"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57BE309A-96C2-1499-0365-2A0B2A7DCD78}"/>
            </a:ext>
          </a:extLst>
        </p:cNvPr>
        <p:cNvGrpSpPr/>
        <p:nvPr/>
      </p:nvGrpSpPr>
      <p:grpSpPr>
        <a:xfrm>
          <a:off x="0" y="0"/>
          <a:ext cx="0" cy="0"/>
          <a:chOff x="0" y="0"/>
          <a:chExt cx="0" cy="0"/>
        </a:xfrm>
      </p:grpSpPr>
      <p:grpSp>
        <p:nvGrpSpPr>
          <p:cNvPr id="2" name="Google Shape;166;p22">
            <a:extLst>
              <a:ext uri="{FF2B5EF4-FFF2-40B4-BE49-F238E27FC236}">
                <a16:creationId xmlns:a16="http://schemas.microsoft.com/office/drawing/2014/main" id="{DAC6AEA0-30A8-7F5A-FC98-E4FC490D93F0}"/>
              </a:ext>
            </a:extLst>
          </p:cNvPr>
          <p:cNvGrpSpPr/>
          <p:nvPr/>
        </p:nvGrpSpPr>
        <p:grpSpPr>
          <a:xfrm>
            <a:off x="0" y="0"/>
            <a:ext cx="9144000" cy="5143500"/>
            <a:chOff x="0" y="0"/>
            <a:chExt cx="9144000" cy="5143500"/>
          </a:xfrm>
        </p:grpSpPr>
        <p:sp>
          <p:nvSpPr>
            <p:cNvPr id="3" name="Google Shape;167;p22">
              <a:extLst>
                <a:ext uri="{FF2B5EF4-FFF2-40B4-BE49-F238E27FC236}">
                  <a16:creationId xmlns:a16="http://schemas.microsoft.com/office/drawing/2014/main" id="{ED9AB5D6-E4A4-6FE0-312A-F586AE0744BD}"/>
                </a:ext>
              </a:extLst>
            </p:cNvPr>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4" name="Google Shape;168;p22">
              <a:extLst>
                <a:ext uri="{FF2B5EF4-FFF2-40B4-BE49-F238E27FC236}">
                  <a16:creationId xmlns:a16="http://schemas.microsoft.com/office/drawing/2014/main" id="{75E426AF-F4F3-86E0-F8C8-A8327DBCC4E3}"/>
                </a:ext>
              </a:extLst>
            </p:cNvPr>
            <p:cNvSpPr/>
            <p:nvPr/>
          </p:nvSpPr>
          <p:spPr>
            <a:xfrm>
              <a:off x="381000" y="381000"/>
              <a:ext cx="571500" cy="381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 name="Google Shape;169;p22">
              <a:extLst>
                <a:ext uri="{FF2B5EF4-FFF2-40B4-BE49-F238E27FC236}">
                  <a16:creationId xmlns:a16="http://schemas.microsoft.com/office/drawing/2014/main" id="{F9223685-B7F3-5675-B984-A026157F6760}"/>
                </a:ext>
              </a:extLst>
            </p:cNvPr>
            <p:cNvSpPr/>
            <p:nvPr/>
          </p:nvSpPr>
          <p:spPr>
            <a:xfrm>
              <a:off x="381000" y="952500"/>
              <a:ext cx="8382000" cy="96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27" name="Google Shape;127;p21">
            <a:extLst>
              <a:ext uri="{FF2B5EF4-FFF2-40B4-BE49-F238E27FC236}">
                <a16:creationId xmlns:a16="http://schemas.microsoft.com/office/drawing/2014/main" id="{07F65F2E-F51B-5AC5-EF18-50E6B90A5D4A}"/>
              </a:ext>
            </a:extLst>
          </p:cNvPr>
          <p:cNvSpPr txBox="1"/>
          <p:nvPr/>
        </p:nvSpPr>
        <p:spPr>
          <a:xfrm>
            <a:off x="381000" y="495300"/>
            <a:ext cx="8294649"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0" dirty="0">
                <a:solidFill>
                  <a:srgbClr val="1A2B3C"/>
                </a:solidFill>
                <a:latin typeface="Inter SemiBold"/>
                <a:ea typeface="Inter SemiBold"/>
                <a:cs typeface="Inter SemiBold"/>
                <a:sym typeface="Inter SemiBold"/>
              </a:rPr>
              <a:t>Data Pipeline Architecture</a:t>
            </a:r>
            <a:endParaRPr sz="2100" b="0" dirty="0">
              <a:solidFill>
                <a:srgbClr val="1A2B3C"/>
              </a:solidFill>
              <a:latin typeface="Inter SemiBold"/>
              <a:ea typeface="Inter SemiBold"/>
              <a:cs typeface="Inter SemiBold"/>
              <a:sym typeface="Inter SemiBold"/>
            </a:endParaRPr>
          </a:p>
        </p:txBody>
      </p:sp>
      <p:pic>
        <p:nvPicPr>
          <p:cNvPr id="38" name="Picture 37">
            <a:extLst>
              <a:ext uri="{FF2B5EF4-FFF2-40B4-BE49-F238E27FC236}">
                <a16:creationId xmlns:a16="http://schemas.microsoft.com/office/drawing/2014/main" id="{E1A1F8EC-8C90-FF7A-BDD2-AAFC6169F1A4}"/>
              </a:ext>
            </a:extLst>
          </p:cNvPr>
          <p:cNvPicPr>
            <a:picLocks noChangeAspect="1"/>
          </p:cNvPicPr>
          <p:nvPr/>
        </p:nvPicPr>
        <p:blipFill>
          <a:blip r:embed="rId3"/>
          <a:stretch>
            <a:fillRect/>
          </a:stretch>
        </p:blipFill>
        <p:spPr>
          <a:xfrm>
            <a:off x="952500" y="1076978"/>
            <a:ext cx="4762500" cy="3951644"/>
          </a:xfrm>
          <a:prstGeom prst="rect">
            <a:avLst/>
          </a:prstGeom>
        </p:spPr>
      </p:pic>
    </p:spTree>
    <p:extLst>
      <p:ext uri="{BB962C8B-B14F-4D97-AF65-F5344CB8AC3E}">
        <p14:creationId xmlns:p14="http://schemas.microsoft.com/office/powerpoint/2010/main" val="1646757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1000"/>
                                        <p:tgtEl>
                                          <p:spTgt spid="127"/>
                                        </p:tgtEl>
                                      </p:cBhvr>
                                    </p:animEffect>
                                    <p:anim calcmode="lin" valueType="num">
                                      <p:cBhvr>
                                        <p:cTn id="8" dur="1000" fill="hold"/>
                                        <p:tgtEl>
                                          <p:spTgt spid="127"/>
                                        </p:tgtEl>
                                        <p:attrNameLst>
                                          <p:attrName>ppt_x</p:attrName>
                                        </p:attrNameLst>
                                      </p:cBhvr>
                                      <p:tavLst>
                                        <p:tav tm="0">
                                          <p:val>
                                            <p:strVal val="#ppt_x"/>
                                          </p:val>
                                        </p:tav>
                                        <p:tav tm="100000">
                                          <p:val>
                                            <p:strVal val="#ppt_x"/>
                                          </p:val>
                                        </p:tav>
                                      </p:tavLst>
                                    </p:anim>
                                    <p:anim calcmode="lin" valueType="num">
                                      <p:cBhvr>
                                        <p:cTn id="9" dur="1000" fill="hold"/>
                                        <p:tgtEl>
                                          <p:spTgt spid="1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8"/>
                                        </p:tgtEl>
                                        <p:attrNameLst>
                                          <p:attrName>style.visibility</p:attrName>
                                        </p:attrNameLst>
                                      </p:cBhvr>
                                      <p:to>
                                        <p:strVal val="visible"/>
                                      </p:to>
                                    </p:set>
                                    <p:anim calcmode="lin" valueType="num">
                                      <p:cBhvr additive="base">
                                        <p:cTn id="14" dur="500" fill="hold"/>
                                        <p:tgtEl>
                                          <p:spTgt spid="38"/>
                                        </p:tgtEl>
                                        <p:attrNameLst>
                                          <p:attrName>ppt_x</p:attrName>
                                        </p:attrNameLst>
                                      </p:cBhvr>
                                      <p:tavLst>
                                        <p:tav tm="0">
                                          <p:val>
                                            <p:strVal val="#ppt_x"/>
                                          </p:val>
                                        </p:tav>
                                        <p:tav tm="100000">
                                          <p:val>
                                            <p:strVal val="#ppt_x"/>
                                          </p:val>
                                        </p:tav>
                                      </p:tavLst>
                                    </p:anim>
                                    <p:anim calcmode="lin" valueType="num">
                                      <p:cBhvr additive="base">
                                        <p:cTn id="15"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48CFE493-8880-3EFB-F087-5AC5B4E4B9F5}"/>
            </a:ext>
          </a:extLst>
        </p:cNvPr>
        <p:cNvGrpSpPr/>
        <p:nvPr/>
      </p:nvGrpSpPr>
      <p:grpSpPr>
        <a:xfrm>
          <a:off x="0" y="0"/>
          <a:ext cx="0" cy="0"/>
          <a:chOff x="0" y="0"/>
          <a:chExt cx="0" cy="0"/>
        </a:xfrm>
      </p:grpSpPr>
      <p:grpSp>
        <p:nvGrpSpPr>
          <p:cNvPr id="2" name="Google Shape;166;p22">
            <a:extLst>
              <a:ext uri="{FF2B5EF4-FFF2-40B4-BE49-F238E27FC236}">
                <a16:creationId xmlns:a16="http://schemas.microsoft.com/office/drawing/2014/main" id="{42A5B719-7FB1-F6A1-E2D8-FF5BCB636D91}"/>
              </a:ext>
            </a:extLst>
          </p:cNvPr>
          <p:cNvGrpSpPr/>
          <p:nvPr/>
        </p:nvGrpSpPr>
        <p:grpSpPr>
          <a:xfrm>
            <a:off x="0" y="0"/>
            <a:ext cx="9144000" cy="5143500"/>
            <a:chOff x="0" y="0"/>
            <a:chExt cx="9144000" cy="5143500"/>
          </a:xfrm>
        </p:grpSpPr>
        <p:sp>
          <p:nvSpPr>
            <p:cNvPr id="3" name="Google Shape;167;p22">
              <a:extLst>
                <a:ext uri="{FF2B5EF4-FFF2-40B4-BE49-F238E27FC236}">
                  <a16:creationId xmlns:a16="http://schemas.microsoft.com/office/drawing/2014/main" id="{032D397C-A15F-7BA1-D270-FE2F9D4190B9}"/>
                </a:ext>
              </a:extLst>
            </p:cNvPr>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 name="Google Shape;168;p22">
              <a:extLst>
                <a:ext uri="{FF2B5EF4-FFF2-40B4-BE49-F238E27FC236}">
                  <a16:creationId xmlns:a16="http://schemas.microsoft.com/office/drawing/2014/main" id="{5C636AFF-E4A0-ACD6-6DCE-252D68F71A22}"/>
                </a:ext>
              </a:extLst>
            </p:cNvPr>
            <p:cNvSpPr/>
            <p:nvPr/>
          </p:nvSpPr>
          <p:spPr>
            <a:xfrm>
              <a:off x="381000" y="381000"/>
              <a:ext cx="571500" cy="381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 name="Google Shape;169;p22">
              <a:extLst>
                <a:ext uri="{FF2B5EF4-FFF2-40B4-BE49-F238E27FC236}">
                  <a16:creationId xmlns:a16="http://schemas.microsoft.com/office/drawing/2014/main" id="{4C9A9DEB-2CF3-6E74-BE84-21A4E8E82039}"/>
                </a:ext>
              </a:extLst>
            </p:cNvPr>
            <p:cNvSpPr/>
            <p:nvPr/>
          </p:nvSpPr>
          <p:spPr>
            <a:xfrm>
              <a:off x="381000" y="952500"/>
              <a:ext cx="8382000" cy="96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27" name="Google Shape;127;p21">
            <a:extLst>
              <a:ext uri="{FF2B5EF4-FFF2-40B4-BE49-F238E27FC236}">
                <a16:creationId xmlns:a16="http://schemas.microsoft.com/office/drawing/2014/main" id="{3C44D3A5-AC35-EC62-77B8-83851DA2295B}"/>
              </a:ext>
            </a:extLst>
          </p:cNvPr>
          <p:cNvSpPr txBox="1"/>
          <p:nvPr/>
        </p:nvSpPr>
        <p:spPr>
          <a:xfrm>
            <a:off x="381000" y="495300"/>
            <a:ext cx="8294649"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0" dirty="0">
                <a:solidFill>
                  <a:srgbClr val="1A2B3C"/>
                </a:solidFill>
                <a:latin typeface="Inter SemiBold"/>
                <a:ea typeface="Inter SemiBold"/>
                <a:cs typeface="Inter SemiBold"/>
                <a:sym typeface="Inter SemiBold"/>
              </a:rPr>
              <a:t>Methodology</a:t>
            </a:r>
            <a:endParaRPr sz="2100" b="0" dirty="0">
              <a:solidFill>
                <a:srgbClr val="1A2B3C"/>
              </a:solidFill>
              <a:latin typeface="Inter SemiBold"/>
              <a:ea typeface="Inter SemiBold"/>
              <a:cs typeface="Inter SemiBold"/>
              <a:sym typeface="Inter SemiBold"/>
            </a:endParaRPr>
          </a:p>
        </p:txBody>
      </p:sp>
      <p:pic>
        <p:nvPicPr>
          <p:cNvPr id="32" name="Picture 31" descr="image.png">
            <a:extLst>
              <a:ext uri="{FF2B5EF4-FFF2-40B4-BE49-F238E27FC236}">
                <a16:creationId xmlns:a16="http://schemas.microsoft.com/office/drawing/2014/main" id="{54F4FC20-D3F1-A104-DDAB-AD5A3D69DD2B}"/>
              </a:ext>
            </a:extLst>
          </p:cNvPr>
          <p:cNvPicPr>
            <a:picLocks noChangeAspect="1"/>
          </p:cNvPicPr>
          <p:nvPr/>
        </p:nvPicPr>
        <p:blipFill>
          <a:blip r:embed="rId3"/>
          <a:stretch>
            <a:fillRect/>
          </a:stretch>
        </p:blipFill>
        <p:spPr>
          <a:xfrm>
            <a:off x="366478" y="1097784"/>
            <a:ext cx="7802162" cy="3443736"/>
          </a:xfrm>
          <a:prstGeom prst="rect">
            <a:avLst/>
          </a:prstGeom>
        </p:spPr>
      </p:pic>
      <p:sp>
        <p:nvSpPr>
          <p:cNvPr id="10" name="TextBox 9">
            <a:extLst>
              <a:ext uri="{FF2B5EF4-FFF2-40B4-BE49-F238E27FC236}">
                <a16:creationId xmlns:a16="http://schemas.microsoft.com/office/drawing/2014/main" id="{24D7804B-2785-2C29-7F24-9628EF688D87}"/>
              </a:ext>
            </a:extLst>
          </p:cNvPr>
          <p:cNvSpPr txBox="1"/>
          <p:nvPr/>
        </p:nvSpPr>
        <p:spPr>
          <a:xfrm>
            <a:off x="666750" y="1472270"/>
            <a:ext cx="7288530" cy="2723118"/>
          </a:xfrm>
          <a:prstGeom prst="rect">
            <a:avLst/>
          </a:prstGeom>
          <a:noFill/>
        </p:spPr>
        <p:txBody>
          <a:bodyPr wrap="square" lIns="0" tIns="0" rIns="0" bIns="0" anchor="t">
            <a:spAutoFit/>
          </a:bodyPr>
          <a:lstStyle/>
          <a:p>
            <a:pPr marL="171450" indent="-171450" algn="l">
              <a:lnSpc>
                <a:spcPts val="2400"/>
              </a:lnSpc>
              <a:buFont typeface="Wingdings" panose="05000000000000000000" pitchFamily="2" charset="2"/>
              <a:buChar char="Ø"/>
            </a:pPr>
            <a:r>
              <a:rPr lang="en-US" sz="1100" dirty="0">
                <a:solidFill>
                  <a:srgbClr val="334155"/>
                </a:solidFill>
                <a:latin typeface="Lato SemiBold"/>
              </a:rPr>
              <a:t>Analyze longitudinal mortality trends across four major heart diseases, with a specific, deep-dive focus on Cardiomyopathy impacts within young populations (ages 0-44).</a:t>
            </a:r>
          </a:p>
          <a:p>
            <a:pPr marL="171450" indent="-171450" algn="l">
              <a:lnSpc>
                <a:spcPts val="2400"/>
              </a:lnSpc>
              <a:buFont typeface="Wingdings" panose="05000000000000000000" pitchFamily="2" charset="2"/>
              <a:buChar char="Ø"/>
            </a:pPr>
            <a:r>
              <a:rPr lang="en-US" sz="1100" dirty="0">
                <a:solidFill>
                  <a:srgbClr val="334155"/>
                </a:solidFill>
                <a:latin typeface="Lato SemiBold"/>
              </a:rPr>
              <a:t>Aggregated and parsed 22,043,274 total mortality records spanning a 7-year timeline (2018–2024).</a:t>
            </a:r>
          </a:p>
          <a:p>
            <a:pPr marL="171450" indent="-171450" algn="l">
              <a:lnSpc>
                <a:spcPts val="2400"/>
              </a:lnSpc>
              <a:buFont typeface="Wingdings" panose="05000000000000000000" pitchFamily="2" charset="2"/>
              <a:buChar char="Ø"/>
            </a:pPr>
            <a:r>
              <a:rPr lang="en-US" sz="1100" dirty="0">
                <a:solidFill>
                  <a:srgbClr val="334155"/>
                </a:solidFill>
                <a:latin typeface="Lato SemiBold"/>
              </a:rPr>
              <a:t>Tracked 4,774,283 deaths attributed broadly to heart disease (Cardiomyopathy, heart failure, chronic ischemic disease, and heart attack).</a:t>
            </a:r>
          </a:p>
          <a:p>
            <a:pPr marL="171450" indent="-171450" algn="l">
              <a:lnSpc>
                <a:spcPts val="2400"/>
              </a:lnSpc>
              <a:buFont typeface="Wingdings" panose="05000000000000000000" pitchFamily="2" charset="2"/>
              <a:buChar char="Ø"/>
            </a:pPr>
            <a:r>
              <a:rPr lang="en-US" sz="1100" dirty="0">
                <a:solidFill>
                  <a:srgbClr val="334155"/>
                </a:solidFill>
                <a:latin typeface="Lato SemiBold"/>
              </a:rPr>
              <a:t> Isolated 139,810 deaths driven specifically by Cardiomyopathy for targeted demographic and geospatial modeling.</a:t>
            </a:r>
          </a:p>
          <a:p>
            <a:pPr marL="171450" indent="-171450" algn="l">
              <a:lnSpc>
                <a:spcPts val="2400"/>
              </a:lnSpc>
              <a:buFont typeface="Wingdings" panose="05000000000000000000" pitchFamily="2" charset="2"/>
              <a:buChar char="Ø"/>
            </a:pPr>
            <a:r>
              <a:rPr lang="en-US" sz="1100" dirty="0">
                <a:solidFill>
                  <a:srgbClr val="334155"/>
                </a:solidFill>
                <a:latin typeface="Lato SemiBold"/>
              </a:rPr>
              <a:t>Detected and corrected a structural shift in the raw data starting in 2021 where the tape location for the "Race" column moved from positions 445-446 to 489-490.</a:t>
            </a:r>
          </a:p>
          <a:p>
            <a:pPr marL="171450" indent="-171450" algn="l">
              <a:lnSpc>
                <a:spcPts val="2400"/>
              </a:lnSpc>
              <a:buFont typeface="Wingdings" panose="05000000000000000000" pitchFamily="2" charset="2"/>
              <a:buChar char="Ø"/>
            </a:pPr>
            <a:r>
              <a:rPr lang="en-US" sz="1100" dirty="0">
                <a:solidFill>
                  <a:srgbClr val="334155"/>
                </a:solidFill>
                <a:latin typeface="Lato SemiBold"/>
              </a:rPr>
              <a:t>Translated coded values (ICD-10, demographics) into human-readable text to prepare the dataset for visualization.</a:t>
            </a:r>
          </a:p>
        </p:txBody>
      </p:sp>
    </p:spTree>
    <p:extLst>
      <p:ext uri="{BB962C8B-B14F-4D97-AF65-F5344CB8AC3E}">
        <p14:creationId xmlns:p14="http://schemas.microsoft.com/office/powerpoint/2010/main" val="393694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1000"/>
                                        <p:tgtEl>
                                          <p:spTgt spid="127"/>
                                        </p:tgtEl>
                                      </p:cBhvr>
                                    </p:animEffect>
                                    <p:anim calcmode="lin" valueType="num">
                                      <p:cBhvr>
                                        <p:cTn id="8" dur="1000" fill="hold"/>
                                        <p:tgtEl>
                                          <p:spTgt spid="127"/>
                                        </p:tgtEl>
                                        <p:attrNameLst>
                                          <p:attrName>ppt_x</p:attrName>
                                        </p:attrNameLst>
                                      </p:cBhvr>
                                      <p:tavLst>
                                        <p:tav tm="0">
                                          <p:val>
                                            <p:strVal val="#ppt_x"/>
                                          </p:val>
                                        </p:tav>
                                        <p:tav tm="100000">
                                          <p:val>
                                            <p:strVal val="#ppt_x"/>
                                          </p:val>
                                        </p:tav>
                                      </p:tavLst>
                                    </p:anim>
                                    <p:anim calcmode="lin" valueType="num">
                                      <p:cBhvr>
                                        <p:cTn id="9" dur="1000" fill="hold"/>
                                        <p:tgtEl>
                                          <p:spTgt spid="1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2"/>
                                        </p:tgtEl>
                                        <p:attrNameLst>
                                          <p:attrName>style.visibility</p:attrName>
                                        </p:attrNameLst>
                                      </p:cBhvr>
                                      <p:to>
                                        <p:strVal val="visible"/>
                                      </p:to>
                                    </p:set>
                                    <p:anim calcmode="lin" valueType="num">
                                      <p:cBhvr additive="base">
                                        <p:cTn id="14" dur="500" fill="hold"/>
                                        <p:tgtEl>
                                          <p:spTgt spid="32"/>
                                        </p:tgtEl>
                                        <p:attrNameLst>
                                          <p:attrName>ppt_x</p:attrName>
                                        </p:attrNameLst>
                                      </p:cBhvr>
                                      <p:tavLst>
                                        <p:tav tm="0">
                                          <p:val>
                                            <p:strVal val="#ppt_x"/>
                                          </p:val>
                                        </p:tav>
                                        <p:tav tm="100000">
                                          <p:val>
                                            <p:strVal val="#ppt_x"/>
                                          </p:val>
                                        </p:tav>
                                      </p:tavLst>
                                    </p:anim>
                                    <p:anim calcmode="lin" valueType="num">
                                      <p:cBhvr additive="base">
                                        <p:cTn id="15"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ppt_x"/>
                                          </p:val>
                                        </p:tav>
                                        <p:tav tm="100000">
                                          <p:val>
                                            <p:strVal val="#ppt_x"/>
                                          </p:val>
                                        </p:tav>
                                      </p:tavLst>
                                    </p:anim>
                                    <p:anim calcmode="lin" valueType="num">
                                      <p:cBhvr additive="base">
                                        <p:cTn id="2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F1604FD4-58A5-354F-C023-EA2780642454}"/>
            </a:ext>
          </a:extLst>
        </p:cNvPr>
        <p:cNvGrpSpPr/>
        <p:nvPr/>
      </p:nvGrpSpPr>
      <p:grpSpPr>
        <a:xfrm>
          <a:off x="0" y="0"/>
          <a:ext cx="0" cy="0"/>
          <a:chOff x="0" y="0"/>
          <a:chExt cx="0" cy="0"/>
        </a:xfrm>
      </p:grpSpPr>
      <p:grpSp>
        <p:nvGrpSpPr>
          <p:cNvPr id="2" name="Google Shape;166;p22">
            <a:extLst>
              <a:ext uri="{FF2B5EF4-FFF2-40B4-BE49-F238E27FC236}">
                <a16:creationId xmlns:a16="http://schemas.microsoft.com/office/drawing/2014/main" id="{F1DCE008-1577-94B5-24A4-32320E5027EA}"/>
              </a:ext>
            </a:extLst>
          </p:cNvPr>
          <p:cNvGrpSpPr/>
          <p:nvPr/>
        </p:nvGrpSpPr>
        <p:grpSpPr>
          <a:xfrm>
            <a:off x="0" y="0"/>
            <a:ext cx="9144000" cy="5143500"/>
            <a:chOff x="0" y="0"/>
            <a:chExt cx="9144000" cy="5143500"/>
          </a:xfrm>
        </p:grpSpPr>
        <p:sp>
          <p:nvSpPr>
            <p:cNvPr id="3" name="Google Shape;167;p22">
              <a:extLst>
                <a:ext uri="{FF2B5EF4-FFF2-40B4-BE49-F238E27FC236}">
                  <a16:creationId xmlns:a16="http://schemas.microsoft.com/office/drawing/2014/main" id="{DC223EF3-3177-743D-4F62-D4814CB1DFB9}"/>
                </a:ext>
              </a:extLst>
            </p:cNvPr>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 name="Google Shape;168;p22">
              <a:extLst>
                <a:ext uri="{FF2B5EF4-FFF2-40B4-BE49-F238E27FC236}">
                  <a16:creationId xmlns:a16="http://schemas.microsoft.com/office/drawing/2014/main" id="{BD25872A-4E81-D255-8D25-61AA3B72A069}"/>
                </a:ext>
              </a:extLst>
            </p:cNvPr>
            <p:cNvSpPr/>
            <p:nvPr/>
          </p:nvSpPr>
          <p:spPr>
            <a:xfrm>
              <a:off x="381000" y="381000"/>
              <a:ext cx="571500" cy="381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 name="Google Shape;169;p22">
              <a:extLst>
                <a:ext uri="{FF2B5EF4-FFF2-40B4-BE49-F238E27FC236}">
                  <a16:creationId xmlns:a16="http://schemas.microsoft.com/office/drawing/2014/main" id="{59C4FB53-983E-F6DA-734C-51A3357C8520}"/>
                </a:ext>
              </a:extLst>
            </p:cNvPr>
            <p:cNvSpPr/>
            <p:nvPr/>
          </p:nvSpPr>
          <p:spPr>
            <a:xfrm>
              <a:off x="381000" y="952500"/>
              <a:ext cx="8382000" cy="96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27" name="Google Shape;127;p21">
            <a:extLst>
              <a:ext uri="{FF2B5EF4-FFF2-40B4-BE49-F238E27FC236}">
                <a16:creationId xmlns:a16="http://schemas.microsoft.com/office/drawing/2014/main" id="{D203B388-084C-10D4-3A7F-E45F8AAE8D35}"/>
              </a:ext>
            </a:extLst>
          </p:cNvPr>
          <p:cNvSpPr txBox="1"/>
          <p:nvPr/>
        </p:nvSpPr>
        <p:spPr>
          <a:xfrm>
            <a:off x="381000" y="495300"/>
            <a:ext cx="8294649"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0" dirty="0">
                <a:solidFill>
                  <a:srgbClr val="1A2B3C"/>
                </a:solidFill>
                <a:latin typeface="Inter SemiBold"/>
                <a:ea typeface="Inter SemiBold"/>
                <a:cs typeface="Inter SemiBold"/>
                <a:sym typeface="Inter SemiBold"/>
              </a:rPr>
              <a:t>Visualization &amp; Deliverables Engine</a:t>
            </a:r>
            <a:endParaRPr sz="2100" b="0" dirty="0">
              <a:solidFill>
                <a:srgbClr val="1A2B3C"/>
              </a:solidFill>
              <a:latin typeface="Inter SemiBold"/>
              <a:ea typeface="Inter SemiBold"/>
              <a:cs typeface="Inter SemiBold"/>
              <a:sym typeface="Inter SemiBold"/>
            </a:endParaRPr>
          </a:p>
        </p:txBody>
      </p:sp>
      <p:graphicFrame>
        <p:nvGraphicFramePr>
          <p:cNvPr id="6" name="Table 5">
            <a:extLst>
              <a:ext uri="{FF2B5EF4-FFF2-40B4-BE49-F238E27FC236}">
                <a16:creationId xmlns:a16="http://schemas.microsoft.com/office/drawing/2014/main" id="{1548F1CC-4C1D-D4A0-FEA9-B222CAB64AE8}"/>
              </a:ext>
            </a:extLst>
          </p:cNvPr>
          <p:cNvGraphicFramePr>
            <a:graphicFrameLocks noGrp="1"/>
          </p:cNvGraphicFramePr>
          <p:nvPr>
            <p:extLst>
              <p:ext uri="{D42A27DB-BD31-4B8C-83A1-F6EECF244321}">
                <p14:modId xmlns:p14="http://schemas.microsoft.com/office/powerpoint/2010/main" val="779321083"/>
              </p:ext>
            </p:extLst>
          </p:nvPr>
        </p:nvGraphicFramePr>
        <p:xfrm>
          <a:off x="381000" y="1380179"/>
          <a:ext cx="7764780" cy="2915920"/>
        </p:xfrm>
        <a:graphic>
          <a:graphicData uri="http://schemas.openxmlformats.org/drawingml/2006/table">
            <a:tbl>
              <a:tblPr firstRow="1" bandRow="1">
                <a:tableStyleId>{2D5ABB26-0587-4C30-8999-92F81FD0307C}</a:tableStyleId>
              </a:tblPr>
              <a:tblGrid>
                <a:gridCol w="2588260">
                  <a:extLst>
                    <a:ext uri="{9D8B030D-6E8A-4147-A177-3AD203B41FA5}">
                      <a16:colId xmlns:a16="http://schemas.microsoft.com/office/drawing/2014/main" val="1999401616"/>
                    </a:ext>
                  </a:extLst>
                </a:gridCol>
                <a:gridCol w="2588260">
                  <a:extLst>
                    <a:ext uri="{9D8B030D-6E8A-4147-A177-3AD203B41FA5}">
                      <a16:colId xmlns:a16="http://schemas.microsoft.com/office/drawing/2014/main" val="3161614840"/>
                    </a:ext>
                  </a:extLst>
                </a:gridCol>
                <a:gridCol w="2588260">
                  <a:extLst>
                    <a:ext uri="{9D8B030D-6E8A-4147-A177-3AD203B41FA5}">
                      <a16:colId xmlns:a16="http://schemas.microsoft.com/office/drawing/2014/main" val="290606274"/>
                    </a:ext>
                  </a:extLst>
                </a:gridCol>
              </a:tblGrid>
              <a:tr h="370840">
                <a:tc>
                  <a:txBody>
                    <a:bodyPr/>
                    <a:lstStyle/>
                    <a:p>
                      <a:r>
                        <a:rPr lang="en-CA" dirty="0"/>
                        <a:t>Dashboard Output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dirty="0"/>
                        <a:t>Visualization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dirty="0"/>
                        <a:t>Key Insight &amp; Focus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2175933"/>
                  </a:ext>
                </a:extLst>
              </a:tr>
              <a:tr h="370840">
                <a:tc>
                  <a:txBody>
                    <a:bodyPr/>
                    <a:lstStyle/>
                    <a:p>
                      <a:r>
                        <a:rPr lang="en-US" sz="1100" dirty="0" err="1">
                          <a:solidFill>
                            <a:srgbClr val="334155"/>
                          </a:solidFill>
                          <a:latin typeface="Lato SemiBold"/>
                        </a:rPr>
                        <a:t>all_state_all_HeartDiease_all_age</a:t>
                      </a:r>
                      <a:endParaRPr lang="en-CA"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rgbClr val="334155"/>
                          </a:solidFill>
                          <a:latin typeface="Lato SemiBold"/>
                        </a:rPr>
                        <a:t>Time-Series Heatmap</a:t>
                      </a:r>
                      <a:endParaRPr lang="en-CA"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rgbClr val="334155"/>
                          </a:solidFill>
                          <a:latin typeface="Lato SemiBold"/>
                        </a:rPr>
                        <a:t>Geographic distribution of all 4 heart diseases across all 50 states + DC (2018-2024).</a:t>
                      </a:r>
                      <a:endParaRPr lang="en-CA"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51865209"/>
                  </a:ext>
                </a:extLst>
              </a:tr>
              <a:tr h="370840">
                <a:tc>
                  <a:txBody>
                    <a:bodyPr/>
                    <a:lstStyle/>
                    <a:p>
                      <a:r>
                        <a:rPr lang="en-US" sz="1100" dirty="0" err="1">
                          <a:solidFill>
                            <a:srgbClr val="334155"/>
                          </a:solidFill>
                          <a:latin typeface="Lato SemiBold"/>
                        </a:rPr>
                        <a:t>all_heart_disease_all_age</a:t>
                      </a:r>
                      <a:endParaRPr lang="en-CA"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rgbClr val="334155"/>
                          </a:solidFill>
                          <a:latin typeface="Lato SemiBold"/>
                        </a:rPr>
                        <a:t>Stacked &amp; Line Charts</a:t>
                      </a:r>
                      <a:endParaRPr lang="en-CA"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rgbClr val="334155"/>
                          </a:solidFill>
                          <a:latin typeface="Lato SemiBold"/>
                        </a:rPr>
                        <a:t>Cardiomyopathy dominates younger populations (~60% of cases) but fades as a primary cause in older demographics.</a:t>
                      </a:r>
                      <a:endParaRPr lang="en-CA"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8195676"/>
                  </a:ext>
                </a:extLst>
              </a:tr>
              <a:tr h="370840">
                <a:tc>
                  <a:txBody>
                    <a:bodyPr/>
                    <a:lstStyle/>
                    <a:p>
                      <a:r>
                        <a:rPr lang="en-US" sz="1100" dirty="0">
                          <a:solidFill>
                            <a:srgbClr val="334155"/>
                          </a:solidFill>
                          <a:latin typeface="Lato SemiBold"/>
                        </a:rPr>
                        <a:t>i42_by_state_adults_only</a:t>
                      </a:r>
                      <a:endParaRPr lang="en-CA"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rgbClr val="334155"/>
                          </a:solidFill>
                          <a:latin typeface="Lato SemiBold"/>
                        </a:rPr>
                        <a:t>Time-Series Heatmap</a:t>
                      </a:r>
                      <a:endParaRPr lang="en-CA"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rgbClr val="334155"/>
                          </a:solidFill>
                          <a:latin typeface="Lato SemiBold"/>
                        </a:rPr>
                        <a:t>Geographic hot-spots isolating Cardiomyopathy deaths specifically in the 0-44 age bracket.</a:t>
                      </a:r>
                      <a:endParaRPr lang="en-CA"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93489862"/>
                  </a:ext>
                </a:extLst>
              </a:tr>
              <a:tr h="370840">
                <a:tc>
                  <a:txBody>
                    <a:bodyPr/>
                    <a:lstStyle/>
                    <a:p>
                      <a:r>
                        <a:rPr lang="en-US" sz="1100" dirty="0">
                          <a:solidFill>
                            <a:srgbClr val="334155"/>
                          </a:solidFill>
                          <a:latin typeface="Lato SemiBold"/>
                        </a:rPr>
                        <a:t>sex_and_seasonal_spike_chart_i42_adults_only</a:t>
                      </a:r>
                      <a:endParaRPr lang="en-CA"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rgbClr val="334155"/>
                          </a:solidFill>
                          <a:latin typeface="Lato SemiBold"/>
                        </a:rPr>
                        <a:t>Temporal Line Charts</a:t>
                      </a:r>
                      <a:endParaRPr lang="en-CA"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dirty="0">
                          <a:solidFill>
                            <a:srgbClr val="334155"/>
                          </a:solidFill>
                          <a:latin typeface="Lato SemiBold"/>
                        </a:rPr>
                        <a:t>Male vs. Female death disparities and month-to-month (Jan-Dec) mortality spikes in young populations.</a:t>
                      </a:r>
                      <a:endParaRPr lang="en-CA"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46796131"/>
                  </a:ext>
                </a:extLst>
              </a:tr>
            </a:tbl>
          </a:graphicData>
        </a:graphic>
      </p:graphicFrame>
    </p:spTree>
    <p:extLst>
      <p:ext uri="{BB962C8B-B14F-4D97-AF65-F5344CB8AC3E}">
        <p14:creationId xmlns:p14="http://schemas.microsoft.com/office/powerpoint/2010/main" val="366661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7"/>
                                        </p:tgtEl>
                                        <p:attrNameLst>
                                          <p:attrName>style.visibility</p:attrName>
                                        </p:attrNameLst>
                                      </p:cBhvr>
                                      <p:to>
                                        <p:strVal val="visible"/>
                                      </p:to>
                                    </p:set>
                                    <p:anim calcmode="lin" valueType="num">
                                      <p:cBhvr additive="base">
                                        <p:cTn id="7" dur="500" fill="hold"/>
                                        <p:tgtEl>
                                          <p:spTgt spid="127"/>
                                        </p:tgtEl>
                                        <p:attrNameLst>
                                          <p:attrName>ppt_x</p:attrName>
                                        </p:attrNameLst>
                                      </p:cBhvr>
                                      <p:tavLst>
                                        <p:tav tm="0">
                                          <p:val>
                                            <p:strVal val="#ppt_x"/>
                                          </p:val>
                                        </p:tav>
                                        <p:tav tm="100000">
                                          <p:val>
                                            <p:strVal val="#ppt_x"/>
                                          </p:val>
                                        </p:tav>
                                      </p:tavLst>
                                    </p:anim>
                                    <p:anim calcmode="lin" valueType="num">
                                      <p:cBhvr additive="base">
                                        <p:cTn id="8" dur="500" fill="hold"/>
                                        <p:tgtEl>
                                          <p:spTgt spid="1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698F5059-C08C-C38C-7056-05788B97AFAC}"/>
            </a:ext>
          </a:extLst>
        </p:cNvPr>
        <p:cNvGrpSpPr/>
        <p:nvPr/>
      </p:nvGrpSpPr>
      <p:grpSpPr>
        <a:xfrm>
          <a:off x="0" y="0"/>
          <a:ext cx="0" cy="0"/>
          <a:chOff x="0" y="0"/>
          <a:chExt cx="0" cy="0"/>
        </a:xfrm>
      </p:grpSpPr>
      <p:grpSp>
        <p:nvGrpSpPr>
          <p:cNvPr id="2" name="Google Shape;166;p22">
            <a:extLst>
              <a:ext uri="{FF2B5EF4-FFF2-40B4-BE49-F238E27FC236}">
                <a16:creationId xmlns:a16="http://schemas.microsoft.com/office/drawing/2014/main" id="{04E5CEDB-37FB-A637-545D-C93CA5172127}"/>
              </a:ext>
            </a:extLst>
          </p:cNvPr>
          <p:cNvGrpSpPr/>
          <p:nvPr/>
        </p:nvGrpSpPr>
        <p:grpSpPr>
          <a:xfrm>
            <a:off x="0" y="0"/>
            <a:ext cx="9144000" cy="5143500"/>
            <a:chOff x="0" y="0"/>
            <a:chExt cx="9144000" cy="5143500"/>
          </a:xfrm>
        </p:grpSpPr>
        <p:sp>
          <p:nvSpPr>
            <p:cNvPr id="3" name="Google Shape;167;p22">
              <a:extLst>
                <a:ext uri="{FF2B5EF4-FFF2-40B4-BE49-F238E27FC236}">
                  <a16:creationId xmlns:a16="http://schemas.microsoft.com/office/drawing/2014/main" id="{0C3BE57A-5774-100F-73F8-CB703204575F}"/>
                </a:ext>
              </a:extLst>
            </p:cNvPr>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4" name="Google Shape;168;p22">
              <a:extLst>
                <a:ext uri="{FF2B5EF4-FFF2-40B4-BE49-F238E27FC236}">
                  <a16:creationId xmlns:a16="http://schemas.microsoft.com/office/drawing/2014/main" id="{6CD34BD0-A65E-4571-580E-5AD0A6216B22}"/>
                </a:ext>
              </a:extLst>
            </p:cNvPr>
            <p:cNvSpPr/>
            <p:nvPr/>
          </p:nvSpPr>
          <p:spPr>
            <a:xfrm>
              <a:off x="381000" y="381000"/>
              <a:ext cx="571500" cy="381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 name="Google Shape;169;p22">
              <a:extLst>
                <a:ext uri="{FF2B5EF4-FFF2-40B4-BE49-F238E27FC236}">
                  <a16:creationId xmlns:a16="http://schemas.microsoft.com/office/drawing/2014/main" id="{D88D102A-6964-B204-8E1F-441C6B2FB33E}"/>
                </a:ext>
              </a:extLst>
            </p:cNvPr>
            <p:cNvSpPr/>
            <p:nvPr/>
          </p:nvSpPr>
          <p:spPr>
            <a:xfrm>
              <a:off x="381000" y="952500"/>
              <a:ext cx="8382000" cy="96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27" name="Google Shape;127;p21">
            <a:extLst>
              <a:ext uri="{FF2B5EF4-FFF2-40B4-BE49-F238E27FC236}">
                <a16:creationId xmlns:a16="http://schemas.microsoft.com/office/drawing/2014/main" id="{C8A21901-994E-44B0-A677-6C4B05581557}"/>
              </a:ext>
            </a:extLst>
          </p:cNvPr>
          <p:cNvSpPr txBox="1"/>
          <p:nvPr/>
        </p:nvSpPr>
        <p:spPr>
          <a:xfrm>
            <a:off x="381000" y="495300"/>
            <a:ext cx="8294649"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0" dirty="0">
                <a:solidFill>
                  <a:srgbClr val="1A2B3C"/>
                </a:solidFill>
                <a:latin typeface="Inter SemiBold"/>
                <a:ea typeface="Inter SemiBold"/>
                <a:cs typeface="Inter SemiBold"/>
                <a:sym typeface="Inter SemiBold"/>
              </a:rPr>
              <a:t>Why Rates, Not Just Counts</a:t>
            </a:r>
            <a:endParaRPr sz="2100" b="0" dirty="0">
              <a:solidFill>
                <a:srgbClr val="1A2B3C"/>
              </a:solidFill>
              <a:latin typeface="Inter SemiBold"/>
              <a:ea typeface="Inter SemiBold"/>
              <a:cs typeface="Inter SemiBold"/>
              <a:sym typeface="Inter SemiBold"/>
            </a:endParaRPr>
          </a:p>
        </p:txBody>
      </p:sp>
      <p:sp>
        <p:nvSpPr>
          <p:cNvPr id="11" name="TextBox 10">
            <a:extLst>
              <a:ext uri="{FF2B5EF4-FFF2-40B4-BE49-F238E27FC236}">
                <a16:creationId xmlns:a16="http://schemas.microsoft.com/office/drawing/2014/main" id="{B5C50733-ECFC-861E-0AF6-90223B454707}"/>
              </a:ext>
            </a:extLst>
          </p:cNvPr>
          <p:cNvSpPr txBox="1"/>
          <p:nvPr/>
        </p:nvSpPr>
        <p:spPr>
          <a:xfrm>
            <a:off x="453390" y="1438271"/>
            <a:ext cx="5619750" cy="568682"/>
          </a:xfrm>
          <a:prstGeom prst="rect">
            <a:avLst/>
          </a:prstGeom>
          <a:noFill/>
        </p:spPr>
        <p:txBody>
          <a:bodyPr wrap="square" lIns="0" tIns="0" rIns="0" bIns="0" anchor="t">
            <a:spAutoFit/>
          </a:bodyPr>
          <a:lstStyle/>
          <a:p>
            <a:pPr algn="l">
              <a:lnSpc>
                <a:spcPts val="2400"/>
              </a:lnSpc>
            </a:pPr>
            <a:r>
              <a:rPr lang="en-US" sz="1100" dirty="0">
                <a:solidFill>
                  <a:srgbClr val="334155"/>
                </a:solidFill>
                <a:latin typeface="Lato SemiBold"/>
              </a:rPr>
              <a:t>100 deaths in a city of 1,000 is a crisis. 100 deaths in a city of 1,000,000 is a footnote. Raw counts mislead. Mortality rates reveals true burden</a:t>
            </a:r>
            <a:endParaRPr lang="en-US" sz="1100" b="0" i="0" u="none" dirty="0">
              <a:solidFill>
                <a:srgbClr val="334155"/>
              </a:solidFill>
              <a:latin typeface="Lato SemiBold"/>
            </a:endParaRPr>
          </a:p>
        </p:txBody>
      </p:sp>
      <p:pic>
        <p:nvPicPr>
          <p:cNvPr id="13" name="Picture 12">
            <a:extLst>
              <a:ext uri="{FF2B5EF4-FFF2-40B4-BE49-F238E27FC236}">
                <a16:creationId xmlns:a16="http://schemas.microsoft.com/office/drawing/2014/main" id="{215FF873-7A60-9968-EED5-5E734C29C646}"/>
              </a:ext>
            </a:extLst>
          </p:cNvPr>
          <p:cNvPicPr>
            <a:picLocks noChangeAspect="1"/>
          </p:cNvPicPr>
          <p:nvPr/>
        </p:nvPicPr>
        <p:blipFill>
          <a:blip r:embed="rId3"/>
          <a:stretch>
            <a:fillRect/>
          </a:stretch>
        </p:blipFill>
        <p:spPr>
          <a:xfrm>
            <a:off x="381000" y="2132006"/>
            <a:ext cx="4525739" cy="1023592"/>
          </a:xfrm>
          <a:prstGeom prst="rect">
            <a:avLst/>
          </a:prstGeom>
        </p:spPr>
      </p:pic>
      <p:pic>
        <p:nvPicPr>
          <p:cNvPr id="15" name="Picture 14" descr="image.png">
            <a:extLst>
              <a:ext uri="{FF2B5EF4-FFF2-40B4-BE49-F238E27FC236}">
                <a16:creationId xmlns:a16="http://schemas.microsoft.com/office/drawing/2014/main" id="{007DBB6E-1785-6BAC-FCBD-D839CA0267A6}"/>
              </a:ext>
            </a:extLst>
          </p:cNvPr>
          <p:cNvPicPr>
            <a:picLocks noChangeAspect="1"/>
          </p:cNvPicPr>
          <p:nvPr/>
        </p:nvPicPr>
        <p:blipFill>
          <a:blip r:embed="rId4"/>
          <a:stretch>
            <a:fillRect/>
          </a:stretch>
        </p:blipFill>
        <p:spPr>
          <a:xfrm>
            <a:off x="459244" y="3274958"/>
            <a:ext cx="2495550" cy="1373242"/>
          </a:xfrm>
          <a:prstGeom prst="rect">
            <a:avLst/>
          </a:prstGeom>
        </p:spPr>
      </p:pic>
      <p:sp>
        <p:nvSpPr>
          <p:cNvPr id="26" name="TextBox 25">
            <a:extLst>
              <a:ext uri="{FF2B5EF4-FFF2-40B4-BE49-F238E27FC236}">
                <a16:creationId xmlns:a16="http://schemas.microsoft.com/office/drawing/2014/main" id="{EDF9A19E-43B7-72BD-ACDA-6D30EA3FA277}"/>
              </a:ext>
            </a:extLst>
          </p:cNvPr>
          <p:cNvSpPr txBox="1"/>
          <p:nvPr/>
        </p:nvSpPr>
        <p:spPr>
          <a:xfrm>
            <a:off x="558304" y="3321673"/>
            <a:ext cx="2396490" cy="876458"/>
          </a:xfrm>
          <a:prstGeom prst="rect">
            <a:avLst/>
          </a:prstGeom>
          <a:noFill/>
        </p:spPr>
        <p:txBody>
          <a:bodyPr wrap="square" lIns="0" tIns="0" rIns="0" bIns="0" anchor="t">
            <a:spAutoFit/>
          </a:bodyPr>
          <a:lstStyle/>
          <a:p>
            <a:pPr algn="l">
              <a:lnSpc>
                <a:spcPts val="2400"/>
              </a:lnSpc>
            </a:pPr>
            <a:r>
              <a:rPr lang="en-US" sz="1100" b="1" dirty="0">
                <a:solidFill>
                  <a:srgbClr val="334155"/>
                </a:solidFill>
                <a:latin typeface="Inter 24pt Black" panose="02000503000000020004" pitchFamily="2" charset="0"/>
                <a:ea typeface="Inter 24pt Black" panose="02000503000000020004" pitchFamily="2" charset="0"/>
              </a:rPr>
              <a:t>Numerator</a:t>
            </a:r>
          </a:p>
          <a:p>
            <a:pPr algn="l">
              <a:lnSpc>
                <a:spcPts val="2400"/>
              </a:lnSpc>
            </a:pPr>
            <a:r>
              <a:rPr lang="en-US" sz="1100" b="0" i="0" u="none" dirty="0">
                <a:solidFill>
                  <a:srgbClr val="334155"/>
                </a:solidFill>
                <a:latin typeface="Lato SemiBold"/>
              </a:rPr>
              <a:t>CDC NCHS microdata. Individual death records by ICD-10 code</a:t>
            </a:r>
          </a:p>
        </p:txBody>
      </p:sp>
      <p:pic>
        <p:nvPicPr>
          <p:cNvPr id="29" name="Picture 28" descr="image.png">
            <a:extLst>
              <a:ext uri="{FF2B5EF4-FFF2-40B4-BE49-F238E27FC236}">
                <a16:creationId xmlns:a16="http://schemas.microsoft.com/office/drawing/2014/main" id="{2744EF23-CE41-0B8C-3802-8BC9900AFD0A}"/>
              </a:ext>
            </a:extLst>
          </p:cNvPr>
          <p:cNvPicPr>
            <a:picLocks noChangeAspect="1"/>
          </p:cNvPicPr>
          <p:nvPr/>
        </p:nvPicPr>
        <p:blipFill>
          <a:blip r:embed="rId4"/>
          <a:stretch>
            <a:fillRect/>
          </a:stretch>
        </p:blipFill>
        <p:spPr>
          <a:xfrm>
            <a:off x="3280549" y="3270321"/>
            <a:ext cx="2495550" cy="1373242"/>
          </a:xfrm>
          <a:prstGeom prst="rect">
            <a:avLst/>
          </a:prstGeom>
        </p:spPr>
      </p:pic>
      <p:sp>
        <p:nvSpPr>
          <p:cNvPr id="32" name="TextBox 31">
            <a:extLst>
              <a:ext uri="{FF2B5EF4-FFF2-40B4-BE49-F238E27FC236}">
                <a16:creationId xmlns:a16="http://schemas.microsoft.com/office/drawing/2014/main" id="{D504A5EC-B25E-C537-D2A9-EA32EAA2EB8C}"/>
              </a:ext>
            </a:extLst>
          </p:cNvPr>
          <p:cNvSpPr txBox="1"/>
          <p:nvPr/>
        </p:nvSpPr>
        <p:spPr>
          <a:xfrm>
            <a:off x="3379609" y="3317036"/>
            <a:ext cx="2303145" cy="876458"/>
          </a:xfrm>
          <a:prstGeom prst="rect">
            <a:avLst/>
          </a:prstGeom>
          <a:noFill/>
        </p:spPr>
        <p:txBody>
          <a:bodyPr wrap="square" lIns="0" tIns="0" rIns="0" bIns="0" anchor="t">
            <a:spAutoFit/>
          </a:bodyPr>
          <a:lstStyle/>
          <a:p>
            <a:pPr algn="l">
              <a:lnSpc>
                <a:spcPts val="2400"/>
              </a:lnSpc>
            </a:pPr>
            <a:r>
              <a:rPr lang="en-US" sz="1100" b="1" dirty="0">
                <a:solidFill>
                  <a:srgbClr val="334155"/>
                </a:solidFill>
                <a:latin typeface="Inter 24pt Black" panose="02000503000000020004" pitchFamily="2" charset="0"/>
                <a:ea typeface="Inter 24pt Black" panose="02000503000000020004" pitchFamily="2" charset="0"/>
              </a:rPr>
              <a:t>Denominator</a:t>
            </a:r>
          </a:p>
          <a:p>
            <a:pPr algn="l">
              <a:lnSpc>
                <a:spcPts val="2400"/>
              </a:lnSpc>
            </a:pPr>
            <a:r>
              <a:rPr lang="en-US" sz="1100" b="0" i="0" u="none" dirty="0">
                <a:solidFill>
                  <a:srgbClr val="334155"/>
                </a:solidFill>
                <a:latin typeface="Lato SemiBold"/>
              </a:rPr>
              <a:t>U.S. Census Bureau population estimates by state, age, race, and sex</a:t>
            </a:r>
          </a:p>
        </p:txBody>
      </p:sp>
    </p:spTree>
    <p:extLst>
      <p:ext uri="{BB962C8B-B14F-4D97-AF65-F5344CB8AC3E}">
        <p14:creationId xmlns:p14="http://schemas.microsoft.com/office/powerpoint/2010/main" val="2359681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1000"/>
                                        <p:tgtEl>
                                          <p:spTgt spid="127"/>
                                        </p:tgtEl>
                                      </p:cBhvr>
                                    </p:animEffect>
                                    <p:anim calcmode="lin" valueType="num">
                                      <p:cBhvr>
                                        <p:cTn id="8" dur="1000" fill="hold"/>
                                        <p:tgtEl>
                                          <p:spTgt spid="127"/>
                                        </p:tgtEl>
                                        <p:attrNameLst>
                                          <p:attrName>ppt_x</p:attrName>
                                        </p:attrNameLst>
                                      </p:cBhvr>
                                      <p:tavLst>
                                        <p:tav tm="0">
                                          <p:val>
                                            <p:strVal val="#ppt_x"/>
                                          </p:val>
                                        </p:tav>
                                        <p:tav tm="100000">
                                          <p:val>
                                            <p:strVal val="#ppt_x"/>
                                          </p:val>
                                        </p:tav>
                                      </p:tavLst>
                                    </p:anim>
                                    <p:anim calcmode="lin" valueType="num">
                                      <p:cBhvr>
                                        <p:cTn id="9" dur="1000" fill="hold"/>
                                        <p:tgtEl>
                                          <p:spTgt spid="1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ppt_x"/>
                                          </p:val>
                                        </p:tav>
                                        <p:tav tm="100000">
                                          <p:val>
                                            <p:strVal val="#ppt_x"/>
                                          </p:val>
                                        </p:tav>
                                      </p:tavLst>
                                    </p:anim>
                                    <p:anim calcmode="lin" valueType="num">
                                      <p:cBhvr additive="base">
                                        <p:cTn id="1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arn(inVertical)">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additive="base">
                                        <p:cTn id="31" dur="500" fill="hold"/>
                                        <p:tgtEl>
                                          <p:spTgt spid="26"/>
                                        </p:tgtEl>
                                        <p:attrNameLst>
                                          <p:attrName>ppt_x</p:attrName>
                                        </p:attrNameLst>
                                      </p:cBhvr>
                                      <p:tavLst>
                                        <p:tav tm="0">
                                          <p:val>
                                            <p:strVal val="#ppt_x"/>
                                          </p:val>
                                        </p:tav>
                                        <p:tav tm="100000">
                                          <p:val>
                                            <p:strVal val="#ppt_x"/>
                                          </p:val>
                                        </p:tav>
                                      </p:tavLst>
                                    </p:anim>
                                    <p:anim calcmode="lin" valueType="num">
                                      <p:cBhvr additive="base">
                                        <p:cTn id="3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fill="hold"/>
                                        <p:tgtEl>
                                          <p:spTgt spid="29"/>
                                        </p:tgtEl>
                                        <p:attrNameLst>
                                          <p:attrName>ppt_x</p:attrName>
                                        </p:attrNameLst>
                                      </p:cBhvr>
                                      <p:tavLst>
                                        <p:tav tm="0">
                                          <p:val>
                                            <p:strVal val="#ppt_x"/>
                                          </p:val>
                                        </p:tav>
                                        <p:tav tm="100000">
                                          <p:val>
                                            <p:strVal val="#ppt_x"/>
                                          </p:val>
                                        </p:tav>
                                      </p:tavLst>
                                    </p:anim>
                                    <p:anim calcmode="lin" valueType="num">
                                      <p:cBhvr additive="base">
                                        <p:cTn id="3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ppt_x"/>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P spid="11" grpId="0"/>
      <p:bldP spid="26" grpId="0"/>
      <p:bldP spid="3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grpSp>
        <p:nvGrpSpPr>
          <p:cNvPr id="73" name="Google Shape;73;p16"/>
          <p:cNvGrpSpPr/>
          <p:nvPr/>
        </p:nvGrpSpPr>
        <p:grpSpPr>
          <a:xfrm>
            <a:off x="1714500" y="1619250"/>
            <a:ext cx="5715000" cy="1905000"/>
            <a:chOff x="0" y="0"/>
            <a:chExt cx="5715000" cy="1905000"/>
          </a:xfrm>
        </p:grpSpPr>
        <p:sp>
          <p:nvSpPr>
            <p:cNvPr id="74" name="Google Shape;74;p16"/>
            <p:cNvSpPr/>
            <p:nvPr/>
          </p:nvSpPr>
          <p:spPr>
            <a:xfrm>
              <a:off x="0" y="0"/>
              <a:ext cx="5715000" cy="1905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5" name="Google Shape;75;p16"/>
            <p:cNvSpPr txBox="1"/>
            <p:nvPr/>
          </p:nvSpPr>
          <p:spPr>
            <a:xfrm>
              <a:off x="0" y="0"/>
              <a:ext cx="5715000" cy="1905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3600" b="1" dirty="0">
                  <a:solidFill>
                    <a:srgbClr val="FFFFFF"/>
                  </a:solidFill>
                  <a:latin typeface="Inter"/>
                  <a:ea typeface="Inter"/>
                  <a:cs typeface="Inter"/>
                  <a:sym typeface="Inter"/>
                </a:rPr>
                <a:t>Why this matters?</a:t>
              </a:r>
              <a:endParaRPr sz="3600" b="1" dirty="0">
                <a:solidFill>
                  <a:srgbClr val="FFFFFF"/>
                </a:solidFill>
                <a:latin typeface="Inter"/>
                <a:ea typeface="Inter"/>
                <a:cs typeface="Inter"/>
                <a:sym typeface="Inter"/>
              </a:endParaRPr>
            </a:p>
          </p:txBody>
        </p:sp>
      </p:grpSp>
      <p:sp>
        <p:nvSpPr>
          <p:cNvPr id="2" name="TextBox 1">
            <a:extLst>
              <a:ext uri="{FF2B5EF4-FFF2-40B4-BE49-F238E27FC236}">
                <a16:creationId xmlns:a16="http://schemas.microsoft.com/office/drawing/2014/main" id="{6B01F5E1-C015-A57A-DE30-D1A891BDC8A1}"/>
              </a:ext>
            </a:extLst>
          </p:cNvPr>
          <p:cNvSpPr txBox="1"/>
          <p:nvPr/>
        </p:nvSpPr>
        <p:spPr>
          <a:xfrm>
            <a:off x="3584390" y="2007219"/>
            <a:ext cx="1975220" cy="307777"/>
          </a:xfrm>
          <a:prstGeom prst="rect">
            <a:avLst/>
          </a:prstGeom>
          <a:noFill/>
        </p:spPr>
        <p:txBody>
          <a:bodyPr wrap="none" rtlCol="0">
            <a:spAutoFit/>
          </a:bodyPr>
          <a:lstStyle/>
          <a:p>
            <a:pPr algn="ctr"/>
            <a:r>
              <a:rPr lang="en-US" dirty="0">
                <a:solidFill>
                  <a:schemeClr val="accent5"/>
                </a:solidFill>
              </a:rPr>
              <a:t>What the data reveals</a:t>
            </a:r>
            <a:endParaRPr lang="en-CA" dirty="0">
              <a:solidFill>
                <a:schemeClr val="accent5"/>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3"/>
                                        </p:tgtEl>
                                        <p:attrNameLst>
                                          <p:attrName>style.visibility</p:attrName>
                                        </p:attrNameLst>
                                      </p:cBhvr>
                                      <p:to>
                                        <p:strVal val="visible"/>
                                      </p:to>
                                    </p:set>
                                    <p:anim calcmode="lin" valueType="num">
                                      <p:cBhvr additive="base">
                                        <p:cTn id="12" dur="500" fill="hold"/>
                                        <p:tgtEl>
                                          <p:spTgt spid="73"/>
                                        </p:tgtEl>
                                        <p:attrNameLst>
                                          <p:attrName>ppt_x</p:attrName>
                                        </p:attrNameLst>
                                      </p:cBhvr>
                                      <p:tavLst>
                                        <p:tav tm="0">
                                          <p:val>
                                            <p:strVal val="#ppt_x"/>
                                          </p:val>
                                        </p:tav>
                                        <p:tav tm="100000">
                                          <p:val>
                                            <p:strVal val="#ppt_x"/>
                                          </p:val>
                                        </p:tav>
                                      </p:tavLst>
                                    </p:anim>
                                    <p:anim calcmode="lin" valueType="num">
                                      <p:cBhvr additive="base">
                                        <p:cTn id="13"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grpSp>
        <p:nvGrpSpPr>
          <p:cNvPr id="80" name="Google Shape;80;p17"/>
          <p:cNvGrpSpPr/>
          <p:nvPr/>
        </p:nvGrpSpPr>
        <p:grpSpPr>
          <a:xfrm>
            <a:off x="0" y="0"/>
            <a:ext cx="9144000" cy="5143500"/>
            <a:chOff x="0" y="0"/>
            <a:chExt cx="9144000" cy="5143500"/>
          </a:xfrm>
        </p:grpSpPr>
        <p:sp>
          <p:nvSpPr>
            <p:cNvPr id="81" name="Google Shape;81;p17"/>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 name="Google Shape;82;p17"/>
            <p:cNvSpPr/>
            <p:nvPr/>
          </p:nvSpPr>
          <p:spPr>
            <a:xfrm>
              <a:off x="381000" y="381000"/>
              <a:ext cx="571500" cy="381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3" name="Google Shape;83;p17"/>
            <p:cNvSpPr/>
            <p:nvPr/>
          </p:nvSpPr>
          <p:spPr>
            <a:xfrm>
              <a:off x="381000" y="952500"/>
              <a:ext cx="8382000" cy="96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84" name="Google Shape;84;p17"/>
          <p:cNvSpPr txBox="1"/>
          <p:nvPr/>
        </p:nvSpPr>
        <p:spPr>
          <a:xfrm>
            <a:off x="381000" y="495300"/>
            <a:ext cx="83820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900"/>
              </a:spcAft>
              <a:buNone/>
            </a:pPr>
            <a:r>
              <a:rPr lang="en" sz="2100">
                <a:solidFill>
                  <a:srgbClr val="1A2B3C"/>
                </a:solidFill>
                <a:latin typeface="Inter SemiBold"/>
                <a:ea typeface="Inter SemiBold"/>
                <a:cs typeface="Inter SemiBold"/>
                <a:sym typeface="Inter SemiBold"/>
              </a:rPr>
              <a:t>Heart Disease Affects Every Corner of the Nation</a:t>
            </a:r>
            <a:endParaRPr sz="2100" b="0">
              <a:solidFill>
                <a:srgbClr val="1A2B3C"/>
              </a:solidFill>
              <a:latin typeface="Inter SemiBold"/>
              <a:ea typeface="Inter SemiBold"/>
              <a:cs typeface="Inter SemiBold"/>
              <a:sym typeface="Inter SemiBold"/>
            </a:endParaRPr>
          </a:p>
        </p:txBody>
      </p:sp>
      <p:pic>
        <p:nvPicPr>
          <p:cNvPr id="2" name="Screen Recording 2026-07-27 171124">
            <a:hlinkClick r:id="" action="ppaction://media"/>
            <a:extLst>
              <a:ext uri="{FF2B5EF4-FFF2-40B4-BE49-F238E27FC236}">
                <a16:creationId xmlns:a16="http://schemas.microsoft.com/office/drawing/2014/main" id="{7B29DD32-B84E-0B49-35BA-39BA372A850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81000" y="962100"/>
            <a:ext cx="5648526" cy="3914700"/>
          </a:xfrm>
          <a:prstGeom prst="rect">
            <a:avLst/>
          </a:prstGeom>
        </p:spPr>
      </p:pic>
      <p:sp>
        <p:nvSpPr>
          <p:cNvPr id="6" name="Google Shape;94;p18">
            <a:extLst>
              <a:ext uri="{FF2B5EF4-FFF2-40B4-BE49-F238E27FC236}">
                <a16:creationId xmlns:a16="http://schemas.microsoft.com/office/drawing/2014/main" id="{ADFA2529-CA48-4DAD-14FB-532BCAA1864E}"/>
              </a:ext>
            </a:extLst>
          </p:cNvPr>
          <p:cNvSpPr txBox="1"/>
          <p:nvPr/>
        </p:nvSpPr>
        <p:spPr>
          <a:xfrm>
            <a:off x="6410526" y="1028700"/>
            <a:ext cx="2204683" cy="1723518"/>
          </a:xfrm>
          <a:prstGeom prst="rect">
            <a:avLst/>
          </a:prstGeom>
          <a:solidFill>
            <a:schemeClr val="lt2"/>
          </a:solidFill>
          <a:ln>
            <a:noFill/>
          </a:ln>
        </p:spPr>
        <p:txBody>
          <a:bodyPr spcFirstLastPara="1" wrap="square" lIns="91425" tIns="91425" rIns="91425" bIns="91425" anchor="t" anchorCtr="0">
            <a:spAutoFit/>
          </a:bodyPr>
          <a:lstStyle/>
          <a:p>
            <a:pPr>
              <a:lnSpc>
                <a:spcPts val="2400"/>
              </a:lnSpc>
            </a:pPr>
            <a:r>
              <a:rPr lang="en-US" sz="1100" dirty="0">
                <a:solidFill>
                  <a:srgbClr val="334155"/>
                </a:solidFill>
                <a:latin typeface="Lato SemiBold"/>
              </a:rPr>
              <a:t>Includes death from the most common forms of heart diseases (Cardiomyopathy, Chronic Ischemic heart disease, Heart Failure and Heart Attack)</a:t>
            </a:r>
          </a:p>
        </p:txBody>
      </p:sp>
      <p:sp>
        <p:nvSpPr>
          <p:cNvPr id="7" name="TextBox 6">
            <a:extLst>
              <a:ext uri="{FF2B5EF4-FFF2-40B4-BE49-F238E27FC236}">
                <a16:creationId xmlns:a16="http://schemas.microsoft.com/office/drawing/2014/main" id="{DCFA6642-2602-58DF-8F4D-B06C85D018C3}"/>
              </a:ext>
            </a:extLst>
          </p:cNvPr>
          <p:cNvSpPr txBox="1"/>
          <p:nvPr/>
        </p:nvSpPr>
        <p:spPr>
          <a:xfrm>
            <a:off x="6410526" y="3009139"/>
            <a:ext cx="2443542" cy="1584344"/>
          </a:xfrm>
          <a:prstGeom prst="rect">
            <a:avLst/>
          </a:prstGeom>
          <a:solidFill>
            <a:schemeClr val="tx2"/>
          </a:solidFill>
        </p:spPr>
        <p:txBody>
          <a:bodyPr wrap="square" rtlCol="0">
            <a:spAutoFit/>
          </a:bodyPr>
          <a:lstStyle/>
          <a:p>
            <a:pPr>
              <a:lnSpc>
                <a:spcPts val="2400"/>
              </a:lnSpc>
            </a:pPr>
            <a:r>
              <a:rPr lang="en-US" sz="1100" dirty="0">
                <a:solidFill>
                  <a:srgbClr val="334155"/>
                </a:solidFill>
                <a:latin typeface="Lato SemiBold"/>
              </a:rPr>
              <a:t>Data on aggregated scale:</a:t>
            </a:r>
          </a:p>
          <a:p>
            <a:pPr>
              <a:lnSpc>
                <a:spcPts val="2400"/>
              </a:lnSpc>
            </a:pPr>
            <a:r>
              <a:rPr lang="en-US" sz="1100" dirty="0">
                <a:solidFill>
                  <a:srgbClr val="334155"/>
                </a:solidFill>
                <a:latin typeface="Lato SemiBold"/>
              </a:rPr>
              <a:t>National Average: 205.3 per 100k</a:t>
            </a:r>
          </a:p>
          <a:p>
            <a:pPr>
              <a:lnSpc>
                <a:spcPts val="2400"/>
              </a:lnSpc>
            </a:pPr>
            <a:r>
              <a:rPr lang="en-US" sz="1100" dirty="0">
                <a:solidFill>
                  <a:srgbClr val="334155"/>
                </a:solidFill>
                <a:latin typeface="Lato SemiBold"/>
              </a:rPr>
              <a:t>Highest: West Virgina (294.6)</a:t>
            </a:r>
          </a:p>
          <a:p>
            <a:pPr>
              <a:lnSpc>
                <a:spcPts val="2400"/>
              </a:lnSpc>
            </a:pPr>
            <a:r>
              <a:rPr lang="en-US" sz="1100" dirty="0">
                <a:solidFill>
                  <a:srgbClr val="334155"/>
                </a:solidFill>
                <a:latin typeface="Lato SemiBold"/>
              </a:rPr>
              <a:t>Lowest: Alaska (123.5)</a:t>
            </a:r>
          </a:p>
          <a:p>
            <a:pPr>
              <a:lnSpc>
                <a:spcPts val="2400"/>
              </a:lnSpc>
            </a:pPr>
            <a:r>
              <a:rPr lang="en-US" sz="1100" dirty="0">
                <a:solidFill>
                  <a:srgbClr val="334155"/>
                </a:solidFill>
                <a:latin typeface="Lato SemiBold"/>
              </a:rPr>
              <a:t>Total death: 4,774,283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487"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hold" display="0">
                  <p:stCondLst>
                    <p:cond delay="indefinite"/>
                  </p:stCondLst>
                </p:cTn>
                <p:tgtEl>
                  <p:spTgt spid="2"/>
                </p:tgtEl>
              </p:cMediaNode>
            </p:video>
            <p:seq concurrent="1" nextAc="seek">
              <p:cTn id="18" restart="whenNotActive" fill="hold" evtFilter="cancelBubble" nodeType="interactiveSeq">
                <p:stCondLst>
                  <p:cond evt="onClick" delay="0">
                    <p:tgtEl>
                      <p:spTgt spid="2"/>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
                                        </p:tgtEl>
                                      </p:cBhvr>
                                    </p:cmd>
                                  </p:childTnLst>
                                </p:cTn>
                              </p:par>
                            </p:childTnLst>
                          </p:cTn>
                        </p:par>
                      </p:childTnLst>
                    </p:cTn>
                  </p:par>
                </p:childTnLst>
              </p:cTn>
              <p:nextCondLst>
                <p:cond evt="onClick" delay="0">
                  <p:tgtEl>
                    <p:spTgt spid="2"/>
                  </p:tgtEl>
                </p:cond>
              </p:nextCondLst>
            </p:seq>
          </p:childTnLst>
        </p:cTn>
      </p:par>
    </p:tnLst>
    <p:bldLst>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18"/>
          <p:cNvGrpSpPr/>
          <p:nvPr/>
        </p:nvGrpSpPr>
        <p:grpSpPr>
          <a:xfrm>
            <a:off x="0" y="0"/>
            <a:ext cx="9144000" cy="5143500"/>
            <a:chOff x="0" y="0"/>
            <a:chExt cx="9144000" cy="5143500"/>
          </a:xfrm>
        </p:grpSpPr>
        <p:sp>
          <p:nvSpPr>
            <p:cNvPr id="90" name="Google Shape;90;p18"/>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1" name="Google Shape;91;p18"/>
            <p:cNvSpPr/>
            <p:nvPr/>
          </p:nvSpPr>
          <p:spPr>
            <a:xfrm>
              <a:off x="381000" y="381000"/>
              <a:ext cx="571500" cy="381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2" name="Google Shape;92;p18"/>
            <p:cNvSpPr/>
            <p:nvPr/>
          </p:nvSpPr>
          <p:spPr>
            <a:xfrm>
              <a:off x="381000" y="952500"/>
              <a:ext cx="8382000" cy="96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93" name="Google Shape;93;p18"/>
          <p:cNvSpPr txBox="1"/>
          <p:nvPr/>
        </p:nvSpPr>
        <p:spPr>
          <a:xfrm>
            <a:off x="381000" y="495300"/>
            <a:ext cx="83820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900"/>
              </a:spcAft>
              <a:buNone/>
            </a:pPr>
            <a:r>
              <a:rPr lang="en" sz="2100" dirty="0">
                <a:solidFill>
                  <a:srgbClr val="1A2B3C"/>
                </a:solidFill>
                <a:latin typeface="Inter SemiBold"/>
                <a:ea typeface="Inter SemiBold"/>
                <a:cs typeface="Inter SemiBold"/>
                <a:sym typeface="Inter SemiBold"/>
              </a:rPr>
              <a:t>Heart Disease Doesn't Wait for Old Age</a:t>
            </a:r>
            <a:endParaRPr sz="2100" b="0" dirty="0">
              <a:solidFill>
                <a:srgbClr val="1A2B3C"/>
              </a:solidFill>
              <a:latin typeface="Inter SemiBold"/>
              <a:ea typeface="Inter SemiBold"/>
              <a:cs typeface="Inter SemiBold"/>
              <a:sym typeface="Inter SemiBold"/>
            </a:endParaRPr>
          </a:p>
        </p:txBody>
      </p:sp>
      <p:sp>
        <p:nvSpPr>
          <p:cNvPr id="94" name="Google Shape;94;p18"/>
          <p:cNvSpPr txBox="1"/>
          <p:nvPr/>
        </p:nvSpPr>
        <p:spPr>
          <a:xfrm>
            <a:off x="6665413" y="1409700"/>
            <a:ext cx="2204683" cy="2031295"/>
          </a:xfrm>
          <a:prstGeom prst="rect">
            <a:avLst/>
          </a:prstGeom>
          <a:solidFill>
            <a:schemeClr val="lt2"/>
          </a:solidFill>
          <a:ln>
            <a:noFill/>
          </a:ln>
        </p:spPr>
        <p:txBody>
          <a:bodyPr spcFirstLastPara="1" wrap="square" lIns="91425" tIns="91425" rIns="91425" bIns="91425" anchor="t" anchorCtr="0">
            <a:spAutoFit/>
          </a:bodyPr>
          <a:lstStyle/>
          <a:p>
            <a:pPr>
              <a:lnSpc>
                <a:spcPts val="2400"/>
              </a:lnSpc>
            </a:pPr>
            <a:r>
              <a:rPr lang="en-US" sz="1100" dirty="0">
                <a:solidFill>
                  <a:srgbClr val="334155"/>
                </a:solidFill>
                <a:latin typeface="Lato SemiBold"/>
              </a:rPr>
              <a:t>While most heart disease rise with age, Cardiomyopathy claims a large share of death in children and young adults before fading into older age groups </a:t>
            </a:r>
          </a:p>
        </p:txBody>
      </p:sp>
      <p:pic>
        <p:nvPicPr>
          <p:cNvPr id="95" name="Google Shape;95;p18" title="Screenshot-2026-07-27-163206.jpg"/>
          <p:cNvPicPr preferRelativeResize="0"/>
          <p:nvPr/>
        </p:nvPicPr>
        <p:blipFill>
          <a:blip r:embed="rId3">
            <a:alphaModFix/>
          </a:blip>
          <a:stretch>
            <a:fillRect/>
          </a:stretch>
        </p:blipFill>
        <p:spPr>
          <a:xfrm>
            <a:off x="273904" y="1065889"/>
            <a:ext cx="6192799" cy="35197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wipe(down)">
                                      <p:cBhvr>
                                        <p:cTn id="7" dur="500"/>
                                        <p:tgtEl>
                                          <p:spTgt spid="9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5"/>
                                        </p:tgtEl>
                                        <p:attrNameLst>
                                          <p:attrName>style.visibility</p:attrName>
                                        </p:attrNameLst>
                                      </p:cBhvr>
                                      <p:to>
                                        <p:strVal val="visible"/>
                                      </p:to>
                                    </p:set>
                                    <p:anim calcmode="lin" valueType="num">
                                      <p:cBhvr additive="base">
                                        <p:cTn id="12" dur="500" fill="hold"/>
                                        <p:tgtEl>
                                          <p:spTgt spid="95"/>
                                        </p:tgtEl>
                                        <p:attrNameLst>
                                          <p:attrName>ppt_x</p:attrName>
                                        </p:attrNameLst>
                                      </p:cBhvr>
                                      <p:tavLst>
                                        <p:tav tm="0">
                                          <p:val>
                                            <p:strVal val="#ppt_x"/>
                                          </p:val>
                                        </p:tav>
                                        <p:tav tm="100000">
                                          <p:val>
                                            <p:strVal val="#ppt_x"/>
                                          </p:val>
                                        </p:tav>
                                      </p:tavLst>
                                    </p:anim>
                                    <p:anim calcmode="lin" valueType="num">
                                      <p:cBhvr additive="base">
                                        <p:cTn id="13" dur="500" fill="hold"/>
                                        <p:tgtEl>
                                          <p:spTgt spid="9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4"/>
                                        </p:tgtEl>
                                        <p:attrNameLst>
                                          <p:attrName>style.visibility</p:attrName>
                                        </p:attrNameLst>
                                      </p:cBhvr>
                                      <p:to>
                                        <p:strVal val="visible"/>
                                      </p:to>
                                    </p:set>
                                    <p:anim calcmode="lin" valueType="num">
                                      <p:cBhvr additive="base">
                                        <p:cTn id="18" dur="500" fill="hold"/>
                                        <p:tgtEl>
                                          <p:spTgt spid="94"/>
                                        </p:tgtEl>
                                        <p:attrNameLst>
                                          <p:attrName>ppt_x</p:attrName>
                                        </p:attrNameLst>
                                      </p:cBhvr>
                                      <p:tavLst>
                                        <p:tav tm="0">
                                          <p:val>
                                            <p:strVal val="#ppt_x"/>
                                          </p:val>
                                        </p:tav>
                                        <p:tav tm="100000">
                                          <p:val>
                                            <p:strVal val="#ppt_x"/>
                                          </p:val>
                                        </p:tav>
                                      </p:tavLst>
                                    </p:anim>
                                    <p:anim calcmode="lin" valueType="num">
                                      <p:cBhvr additive="base">
                                        <p:cTn id="19"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p:bldP spid="9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grpSp>
        <p:nvGrpSpPr>
          <p:cNvPr id="100" name="Google Shape;100;p19"/>
          <p:cNvGrpSpPr/>
          <p:nvPr/>
        </p:nvGrpSpPr>
        <p:grpSpPr>
          <a:xfrm>
            <a:off x="0" y="0"/>
            <a:ext cx="9144000" cy="5143500"/>
            <a:chOff x="0" y="0"/>
            <a:chExt cx="9144000" cy="5143500"/>
          </a:xfrm>
        </p:grpSpPr>
        <p:sp>
          <p:nvSpPr>
            <p:cNvPr id="101" name="Google Shape;101;p19"/>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2" name="Google Shape;102;p19"/>
            <p:cNvSpPr/>
            <p:nvPr/>
          </p:nvSpPr>
          <p:spPr>
            <a:xfrm>
              <a:off x="381000" y="381000"/>
              <a:ext cx="571500" cy="381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3" name="Google Shape;103;p19"/>
            <p:cNvSpPr/>
            <p:nvPr/>
          </p:nvSpPr>
          <p:spPr>
            <a:xfrm>
              <a:off x="381000" y="952500"/>
              <a:ext cx="8382000" cy="96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04" name="Google Shape;104;p19"/>
          <p:cNvSpPr txBox="1"/>
          <p:nvPr/>
        </p:nvSpPr>
        <p:spPr>
          <a:xfrm>
            <a:off x="381000" y="495300"/>
            <a:ext cx="83820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900"/>
              </a:spcAft>
              <a:buNone/>
            </a:pPr>
            <a:r>
              <a:rPr lang="en" sz="2100" dirty="0">
                <a:solidFill>
                  <a:srgbClr val="1A2B3C"/>
                </a:solidFill>
                <a:latin typeface="Inter SemiBold"/>
                <a:ea typeface="Inter SemiBold"/>
                <a:cs typeface="Inter SemiBold"/>
                <a:sym typeface="Inter SemiBold"/>
              </a:rPr>
              <a:t>The pattern holds in every single year</a:t>
            </a:r>
            <a:endParaRPr sz="2100" b="0" dirty="0">
              <a:solidFill>
                <a:srgbClr val="1A2B3C"/>
              </a:solidFill>
              <a:latin typeface="Inter SemiBold"/>
              <a:ea typeface="Inter SemiBold"/>
              <a:cs typeface="Inter SemiBold"/>
              <a:sym typeface="Inter SemiBold"/>
            </a:endParaRPr>
          </a:p>
        </p:txBody>
      </p:sp>
      <p:pic>
        <p:nvPicPr>
          <p:cNvPr id="105" name="Google Shape;105;p19"/>
          <p:cNvPicPr preferRelativeResize="0"/>
          <p:nvPr/>
        </p:nvPicPr>
        <p:blipFill>
          <a:blip r:embed="rId3">
            <a:alphaModFix/>
          </a:blip>
          <a:stretch>
            <a:fillRect/>
          </a:stretch>
        </p:blipFill>
        <p:spPr>
          <a:xfrm>
            <a:off x="381000" y="1345025"/>
            <a:ext cx="5924751" cy="3059150"/>
          </a:xfrm>
          <a:prstGeom prst="rect">
            <a:avLst/>
          </a:prstGeom>
          <a:noFill/>
          <a:ln>
            <a:noFill/>
          </a:ln>
        </p:spPr>
      </p:pic>
      <p:sp>
        <p:nvSpPr>
          <p:cNvPr id="106" name="Google Shape;106;p19"/>
          <p:cNvSpPr txBox="1"/>
          <p:nvPr/>
        </p:nvSpPr>
        <p:spPr>
          <a:xfrm>
            <a:off x="6404800" y="1898600"/>
            <a:ext cx="2084995" cy="1723518"/>
          </a:xfrm>
          <a:prstGeom prst="rect">
            <a:avLst/>
          </a:prstGeom>
          <a:solidFill>
            <a:schemeClr val="lt2"/>
          </a:solidFill>
          <a:ln>
            <a:noFill/>
          </a:ln>
        </p:spPr>
        <p:txBody>
          <a:bodyPr spcFirstLastPara="1" wrap="square" lIns="91425" tIns="91425" rIns="91425" bIns="91425" anchor="t" anchorCtr="0">
            <a:spAutoFit/>
          </a:bodyPr>
          <a:lstStyle/>
          <a:p>
            <a:pPr>
              <a:lnSpc>
                <a:spcPts val="2400"/>
              </a:lnSpc>
            </a:pPr>
            <a:r>
              <a:rPr lang="en-US" sz="1100" dirty="0">
                <a:solidFill>
                  <a:srgbClr val="334155"/>
                </a:solidFill>
                <a:latin typeface="Lato SemiBold"/>
              </a:rPr>
              <a:t>Of 4.77M  heart disease deaths, Cardiomyopathy dominates the 0-24 age groups with approx. 60% of death every single year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fade">
                                      <p:cBhvr>
                                        <p:cTn id="7" dur="1000"/>
                                        <p:tgtEl>
                                          <p:spTgt spid="104"/>
                                        </p:tgtEl>
                                      </p:cBhvr>
                                    </p:animEffect>
                                    <p:anim calcmode="lin" valueType="num">
                                      <p:cBhvr>
                                        <p:cTn id="8" dur="1000" fill="hold"/>
                                        <p:tgtEl>
                                          <p:spTgt spid="104"/>
                                        </p:tgtEl>
                                        <p:attrNameLst>
                                          <p:attrName>ppt_x</p:attrName>
                                        </p:attrNameLst>
                                      </p:cBhvr>
                                      <p:tavLst>
                                        <p:tav tm="0">
                                          <p:val>
                                            <p:strVal val="#ppt_x"/>
                                          </p:val>
                                        </p:tav>
                                        <p:tav tm="100000">
                                          <p:val>
                                            <p:strVal val="#ppt_x"/>
                                          </p:val>
                                        </p:tav>
                                      </p:tavLst>
                                    </p:anim>
                                    <p:anim calcmode="lin" valueType="num">
                                      <p:cBhvr>
                                        <p:cTn id="9" dur="1000" fill="hold"/>
                                        <p:tgtEl>
                                          <p:spTgt spid="10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05"/>
                                        </p:tgtEl>
                                        <p:attrNameLst>
                                          <p:attrName>style.visibility</p:attrName>
                                        </p:attrNameLst>
                                      </p:cBhvr>
                                      <p:to>
                                        <p:strVal val="visible"/>
                                      </p:to>
                                    </p:set>
                                    <p:anim calcmode="lin" valueType="num">
                                      <p:cBhvr additive="base">
                                        <p:cTn id="14" dur="500" fill="hold"/>
                                        <p:tgtEl>
                                          <p:spTgt spid="105"/>
                                        </p:tgtEl>
                                        <p:attrNameLst>
                                          <p:attrName>ppt_x</p:attrName>
                                        </p:attrNameLst>
                                      </p:cBhvr>
                                      <p:tavLst>
                                        <p:tav tm="0">
                                          <p:val>
                                            <p:strVal val="#ppt_x"/>
                                          </p:val>
                                        </p:tav>
                                        <p:tav tm="100000">
                                          <p:val>
                                            <p:strVal val="#ppt_x"/>
                                          </p:val>
                                        </p:tav>
                                      </p:tavLst>
                                    </p:anim>
                                    <p:anim calcmode="lin" valueType="num">
                                      <p:cBhvr additive="base">
                                        <p:cTn id="15"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06"/>
                                        </p:tgtEl>
                                        <p:attrNameLst>
                                          <p:attrName>style.visibility</p:attrName>
                                        </p:attrNameLst>
                                      </p:cBhvr>
                                      <p:to>
                                        <p:strVal val="visible"/>
                                      </p:to>
                                    </p:set>
                                    <p:anim calcmode="lin" valueType="num">
                                      <p:cBhvr additive="base">
                                        <p:cTn id="20" dur="500" fill="hold"/>
                                        <p:tgtEl>
                                          <p:spTgt spid="106"/>
                                        </p:tgtEl>
                                        <p:attrNameLst>
                                          <p:attrName>ppt_x</p:attrName>
                                        </p:attrNameLst>
                                      </p:cBhvr>
                                      <p:tavLst>
                                        <p:tav tm="0">
                                          <p:val>
                                            <p:strVal val="#ppt_x"/>
                                          </p:val>
                                        </p:tav>
                                        <p:tav tm="100000">
                                          <p:val>
                                            <p:strVal val="#ppt_x"/>
                                          </p:val>
                                        </p:tav>
                                      </p:tavLst>
                                    </p:anim>
                                    <p:anim calcmode="lin" valueType="num">
                                      <p:cBhvr additive="base">
                                        <p:cTn id="21" dur="500" fill="hold"/>
                                        <p:tgtEl>
                                          <p:spTgt spid="1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P spid="10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grpSp>
        <p:nvGrpSpPr>
          <p:cNvPr id="111" name="Google Shape;111;p20"/>
          <p:cNvGrpSpPr/>
          <p:nvPr/>
        </p:nvGrpSpPr>
        <p:grpSpPr>
          <a:xfrm>
            <a:off x="0" y="0"/>
            <a:ext cx="9144000" cy="5143500"/>
            <a:chOff x="0" y="0"/>
            <a:chExt cx="9144000" cy="5143500"/>
          </a:xfrm>
        </p:grpSpPr>
        <p:sp>
          <p:nvSpPr>
            <p:cNvPr id="112" name="Google Shape;112;p20"/>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3" name="Google Shape;113;p20"/>
            <p:cNvSpPr/>
            <p:nvPr/>
          </p:nvSpPr>
          <p:spPr>
            <a:xfrm>
              <a:off x="381000" y="381000"/>
              <a:ext cx="571500" cy="381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4" name="Google Shape;114;p20"/>
            <p:cNvSpPr/>
            <p:nvPr/>
          </p:nvSpPr>
          <p:spPr>
            <a:xfrm>
              <a:off x="381000" y="952500"/>
              <a:ext cx="8382000" cy="96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15" name="Google Shape;115;p20"/>
          <p:cNvSpPr txBox="1"/>
          <p:nvPr/>
        </p:nvSpPr>
        <p:spPr>
          <a:xfrm>
            <a:off x="381000" y="495300"/>
            <a:ext cx="83820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900"/>
              </a:spcAft>
              <a:buNone/>
            </a:pPr>
            <a:r>
              <a:rPr lang="en" sz="2100" dirty="0">
                <a:solidFill>
                  <a:srgbClr val="1A2B3C"/>
                </a:solidFill>
                <a:latin typeface="Inter SemiBold"/>
                <a:ea typeface="Inter SemiBold"/>
                <a:cs typeface="Inter SemiBold"/>
                <a:sym typeface="Inter SemiBold"/>
              </a:rPr>
              <a:t>Youth Is Defined by Cardiomyopathy</a:t>
            </a:r>
            <a:endParaRPr sz="2100" b="0" dirty="0">
              <a:solidFill>
                <a:srgbClr val="1A2B3C"/>
              </a:solidFill>
              <a:latin typeface="Inter SemiBold"/>
              <a:ea typeface="Inter SemiBold"/>
              <a:cs typeface="Inter SemiBold"/>
              <a:sym typeface="Inter SemiBold"/>
            </a:endParaRPr>
          </a:p>
        </p:txBody>
      </p:sp>
      <p:sp>
        <p:nvSpPr>
          <p:cNvPr id="116" name="Google Shape;116;p20"/>
          <p:cNvSpPr txBox="1"/>
          <p:nvPr/>
        </p:nvSpPr>
        <p:spPr>
          <a:xfrm>
            <a:off x="6751901" y="1514425"/>
            <a:ext cx="2099824" cy="2031295"/>
          </a:xfrm>
          <a:prstGeom prst="rect">
            <a:avLst/>
          </a:prstGeom>
          <a:solidFill>
            <a:schemeClr val="lt2"/>
          </a:solidFill>
          <a:ln>
            <a:noFill/>
          </a:ln>
        </p:spPr>
        <p:txBody>
          <a:bodyPr spcFirstLastPara="1" wrap="square" lIns="91425" tIns="91425" rIns="91425" bIns="91425" anchor="t" anchorCtr="0">
            <a:spAutoFit/>
          </a:bodyPr>
          <a:lstStyle/>
          <a:p>
            <a:pPr>
              <a:lnSpc>
                <a:spcPts val="2400"/>
              </a:lnSpc>
            </a:pPr>
            <a:r>
              <a:rPr lang="en-US" sz="1100" dirty="0">
                <a:solidFill>
                  <a:srgbClr val="334155"/>
                </a:solidFill>
                <a:latin typeface="Lato SemiBold"/>
              </a:rPr>
              <a:t>Cardiomyopathy dominates the Youngest heart but its share is rapidly declined with age and ultimately replaced by Chronic Ischemic heart disease and Heart attack </a:t>
            </a:r>
          </a:p>
        </p:txBody>
      </p:sp>
      <p:pic>
        <p:nvPicPr>
          <p:cNvPr id="117" name="Google Shape;117;p20"/>
          <p:cNvPicPr preferRelativeResize="0"/>
          <p:nvPr/>
        </p:nvPicPr>
        <p:blipFill>
          <a:blip r:embed="rId3">
            <a:alphaModFix/>
          </a:blip>
          <a:stretch>
            <a:fillRect/>
          </a:stretch>
        </p:blipFill>
        <p:spPr>
          <a:xfrm>
            <a:off x="381001" y="997857"/>
            <a:ext cx="6078625" cy="40263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 calcmode="lin" valueType="num">
                                      <p:cBhvr additive="base">
                                        <p:cTn id="7" dur="500" fill="hold"/>
                                        <p:tgtEl>
                                          <p:spTgt spid="115"/>
                                        </p:tgtEl>
                                        <p:attrNameLst>
                                          <p:attrName>ppt_x</p:attrName>
                                        </p:attrNameLst>
                                      </p:cBhvr>
                                      <p:tavLst>
                                        <p:tav tm="0">
                                          <p:val>
                                            <p:strVal val="#ppt_x"/>
                                          </p:val>
                                        </p:tav>
                                        <p:tav tm="100000">
                                          <p:val>
                                            <p:strVal val="#ppt_x"/>
                                          </p:val>
                                        </p:tav>
                                      </p:tavLst>
                                    </p:anim>
                                    <p:anim calcmode="lin" valueType="num">
                                      <p:cBhvr additive="base">
                                        <p:cTn id="8" dur="500" fill="hold"/>
                                        <p:tgtEl>
                                          <p:spTgt spid="1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17"/>
                                        </p:tgtEl>
                                        <p:attrNameLst>
                                          <p:attrName>style.visibility</p:attrName>
                                        </p:attrNameLst>
                                      </p:cBhvr>
                                      <p:to>
                                        <p:strVal val="visible"/>
                                      </p:to>
                                    </p:set>
                                    <p:animEffect transition="in" filter="fade">
                                      <p:cBhvr>
                                        <p:cTn id="13" dur="1000"/>
                                        <p:tgtEl>
                                          <p:spTgt spid="117"/>
                                        </p:tgtEl>
                                      </p:cBhvr>
                                    </p:animEffect>
                                    <p:anim calcmode="lin" valueType="num">
                                      <p:cBhvr>
                                        <p:cTn id="14" dur="1000" fill="hold"/>
                                        <p:tgtEl>
                                          <p:spTgt spid="117"/>
                                        </p:tgtEl>
                                        <p:attrNameLst>
                                          <p:attrName>ppt_x</p:attrName>
                                        </p:attrNameLst>
                                      </p:cBhvr>
                                      <p:tavLst>
                                        <p:tav tm="0">
                                          <p:val>
                                            <p:strVal val="#ppt_x"/>
                                          </p:val>
                                        </p:tav>
                                        <p:tav tm="100000">
                                          <p:val>
                                            <p:strVal val="#ppt_x"/>
                                          </p:val>
                                        </p:tav>
                                      </p:tavLst>
                                    </p:anim>
                                    <p:anim calcmode="lin" valueType="num">
                                      <p:cBhvr>
                                        <p:cTn id="15" dur="1000" fill="hold"/>
                                        <p:tgtEl>
                                          <p:spTgt spid="117"/>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16">
                                            <p:txEl>
                                              <p:pRg st="0" end="0"/>
                                            </p:txEl>
                                          </p:spTgt>
                                        </p:tgtEl>
                                        <p:attrNameLst>
                                          <p:attrName>style.visibility</p:attrName>
                                        </p:attrNameLst>
                                      </p:cBhvr>
                                      <p:to>
                                        <p:strVal val="visible"/>
                                      </p:to>
                                    </p:set>
                                    <p:anim calcmode="lin" valueType="num">
                                      <p:cBhvr additive="base">
                                        <p:cTn id="20" dur="500" fill="hold"/>
                                        <p:tgtEl>
                                          <p:spTgt spid="116">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1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9">
          <a:extLst>
            <a:ext uri="{FF2B5EF4-FFF2-40B4-BE49-F238E27FC236}">
              <a16:creationId xmlns:a16="http://schemas.microsoft.com/office/drawing/2014/main" id="{DC9B23E2-FE89-1D0C-0AD2-BD9E3BCBB9F5}"/>
            </a:ext>
          </a:extLst>
        </p:cNvPr>
        <p:cNvGrpSpPr/>
        <p:nvPr/>
      </p:nvGrpSpPr>
      <p:grpSpPr>
        <a:xfrm>
          <a:off x="0" y="0"/>
          <a:ext cx="0" cy="0"/>
          <a:chOff x="0" y="0"/>
          <a:chExt cx="0" cy="0"/>
        </a:xfrm>
      </p:grpSpPr>
      <p:grpSp>
        <p:nvGrpSpPr>
          <p:cNvPr id="80" name="Google Shape;80;p17">
            <a:extLst>
              <a:ext uri="{FF2B5EF4-FFF2-40B4-BE49-F238E27FC236}">
                <a16:creationId xmlns:a16="http://schemas.microsoft.com/office/drawing/2014/main" id="{2B1D7B27-70F4-91A5-39F0-9EBD81F9D93E}"/>
              </a:ext>
            </a:extLst>
          </p:cNvPr>
          <p:cNvGrpSpPr/>
          <p:nvPr/>
        </p:nvGrpSpPr>
        <p:grpSpPr>
          <a:xfrm>
            <a:off x="0" y="0"/>
            <a:ext cx="9144000" cy="5143500"/>
            <a:chOff x="0" y="0"/>
            <a:chExt cx="9144000" cy="5143500"/>
          </a:xfrm>
        </p:grpSpPr>
        <p:sp>
          <p:nvSpPr>
            <p:cNvPr id="81" name="Google Shape;81;p17">
              <a:extLst>
                <a:ext uri="{FF2B5EF4-FFF2-40B4-BE49-F238E27FC236}">
                  <a16:creationId xmlns:a16="http://schemas.microsoft.com/office/drawing/2014/main" id="{973C8EE1-D1E6-263D-A156-816B07BBC54B}"/>
                </a:ext>
              </a:extLst>
            </p:cNvPr>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dirty="0"/>
            </a:p>
          </p:txBody>
        </p:sp>
        <p:sp>
          <p:nvSpPr>
            <p:cNvPr id="82" name="Google Shape;82;p17">
              <a:extLst>
                <a:ext uri="{FF2B5EF4-FFF2-40B4-BE49-F238E27FC236}">
                  <a16:creationId xmlns:a16="http://schemas.microsoft.com/office/drawing/2014/main" id="{0D9B5278-9C8E-39D7-5D56-9874995E45EE}"/>
                </a:ext>
              </a:extLst>
            </p:cNvPr>
            <p:cNvSpPr/>
            <p:nvPr/>
          </p:nvSpPr>
          <p:spPr>
            <a:xfrm>
              <a:off x="381000" y="381000"/>
              <a:ext cx="571500" cy="381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3" name="Google Shape;83;p17">
              <a:extLst>
                <a:ext uri="{FF2B5EF4-FFF2-40B4-BE49-F238E27FC236}">
                  <a16:creationId xmlns:a16="http://schemas.microsoft.com/office/drawing/2014/main" id="{A1AA5B10-44CC-1FF1-7787-C991CE9CB60B}"/>
                </a:ext>
              </a:extLst>
            </p:cNvPr>
            <p:cNvSpPr/>
            <p:nvPr/>
          </p:nvSpPr>
          <p:spPr>
            <a:xfrm>
              <a:off x="381000" y="952500"/>
              <a:ext cx="8382000" cy="96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84" name="Google Shape;84;p17">
            <a:extLst>
              <a:ext uri="{FF2B5EF4-FFF2-40B4-BE49-F238E27FC236}">
                <a16:creationId xmlns:a16="http://schemas.microsoft.com/office/drawing/2014/main" id="{EBDE3648-037A-7EED-3B25-277AE9F2F496}"/>
              </a:ext>
            </a:extLst>
          </p:cNvPr>
          <p:cNvSpPr txBox="1"/>
          <p:nvPr/>
        </p:nvSpPr>
        <p:spPr>
          <a:xfrm>
            <a:off x="381000" y="495300"/>
            <a:ext cx="83820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900"/>
              </a:spcAft>
              <a:buNone/>
            </a:pPr>
            <a:r>
              <a:rPr lang="en-US" sz="2100" dirty="0">
                <a:solidFill>
                  <a:srgbClr val="1A2B3C"/>
                </a:solidFill>
                <a:latin typeface="Inter SemiBold"/>
                <a:ea typeface="Inter SemiBold"/>
                <a:cs typeface="Inter SemiBold"/>
                <a:sym typeface="Inter SemiBold"/>
              </a:rPr>
              <a:t>A Silent Burden Across the Nation</a:t>
            </a:r>
            <a:endParaRPr sz="2100" b="0" dirty="0">
              <a:solidFill>
                <a:srgbClr val="1A2B3C"/>
              </a:solidFill>
              <a:latin typeface="Inter SemiBold"/>
              <a:ea typeface="Inter SemiBold"/>
              <a:cs typeface="Inter SemiBold"/>
              <a:sym typeface="Inter SemiBold"/>
            </a:endParaRPr>
          </a:p>
        </p:txBody>
      </p:sp>
      <p:pic>
        <p:nvPicPr>
          <p:cNvPr id="11" name="Picture 10">
            <a:extLst>
              <a:ext uri="{FF2B5EF4-FFF2-40B4-BE49-F238E27FC236}">
                <a16:creationId xmlns:a16="http://schemas.microsoft.com/office/drawing/2014/main" id="{16D806D7-97CC-96AD-70D0-72C869BD15A2}"/>
              </a:ext>
            </a:extLst>
          </p:cNvPr>
          <p:cNvPicPr>
            <a:picLocks noChangeAspect="1"/>
          </p:cNvPicPr>
          <p:nvPr/>
        </p:nvPicPr>
        <p:blipFill>
          <a:blip r:embed="rId3"/>
          <a:stretch>
            <a:fillRect/>
          </a:stretch>
        </p:blipFill>
        <p:spPr>
          <a:xfrm>
            <a:off x="380999" y="1028699"/>
            <a:ext cx="5365595" cy="3930823"/>
          </a:xfrm>
          <a:prstGeom prst="rect">
            <a:avLst/>
          </a:prstGeom>
        </p:spPr>
      </p:pic>
      <p:sp>
        <p:nvSpPr>
          <p:cNvPr id="5" name="Google Shape;116;p20">
            <a:extLst>
              <a:ext uri="{FF2B5EF4-FFF2-40B4-BE49-F238E27FC236}">
                <a16:creationId xmlns:a16="http://schemas.microsoft.com/office/drawing/2014/main" id="{E14460DB-F83E-E882-5E1D-82FD66335561}"/>
              </a:ext>
            </a:extLst>
          </p:cNvPr>
          <p:cNvSpPr txBox="1"/>
          <p:nvPr/>
        </p:nvSpPr>
        <p:spPr>
          <a:xfrm>
            <a:off x="6410526" y="1261664"/>
            <a:ext cx="2099824" cy="2031295"/>
          </a:xfrm>
          <a:prstGeom prst="rect">
            <a:avLst/>
          </a:prstGeom>
          <a:solidFill>
            <a:schemeClr val="lt2"/>
          </a:solidFill>
          <a:ln>
            <a:noFill/>
          </a:ln>
        </p:spPr>
        <p:txBody>
          <a:bodyPr spcFirstLastPara="1" wrap="square" lIns="91425" tIns="91425" rIns="91425" bIns="91425" anchor="t" anchorCtr="0">
            <a:spAutoFit/>
          </a:bodyPr>
          <a:lstStyle/>
          <a:p>
            <a:pPr>
              <a:lnSpc>
                <a:spcPts val="2400"/>
              </a:lnSpc>
            </a:pPr>
            <a:r>
              <a:rPr lang="en-US" sz="1100" dirty="0">
                <a:solidFill>
                  <a:srgbClr val="334155"/>
                </a:solidFill>
                <a:latin typeface="Lato SemiBold"/>
              </a:rPr>
              <a:t>Cardiomyopathy is spread across the nation with national average of 4.5 per 100k. Washington DC with highest rate of 29.8 and Texas with lowest of 2.6.</a:t>
            </a:r>
          </a:p>
        </p:txBody>
      </p:sp>
    </p:spTree>
    <p:extLst>
      <p:ext uri="{BB962C8B-B14F-4D97-AF65-F5344CB8AC3E}">
        <p14:creationId xmlns:p14="http://schemas.microsoft.com/office/powerpoint/2010/main" val="2839992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1000"/>
                                        <p:tgtEl>
                                          <p:spTgt spid="84"/>
                                        </p:tgtEl>
                                      </p:cBhvr>
                                    </p:animEffect>
                                    <p:anim calcmode="lin" valueType="num">
                                      <p:cBhvr>
                                        <p:cTn id="8" dur="1000" fill="hold"/>
                                        <p:tgtEl>
                                          <p:spTgt spid="84"/>
                                        </p:tgtEl>
                                        <p:attrNameLst>
                                          <p:attrName>ppt_x</p:attrName>
                                        </p:attrNameLst>
                                      </p:cBhvr>
                                      <p:tavLst>
                                        <p:tav tm="0">
                                          <p:val>
                                            <p:strVal val="#ppt_x"/>
                                          </p:val>
                                        </p:tav>
                                        <p:tav tm="100000">
                                          <p:val>
                                            <p:strVal val="#ppt_x"/>
                                          </p:val>
                                        </p:tav>
                                      </p:tavLst>
                                    </p:anim>
                                    <p:anim calcmode="lin" valueType="num">
                                      <p:cBhvr>
                                        <p:cTn id="9" dur="1000" fill="hold"/>
                                        <p:tgtEl>
                                          <p:spTgt spid="8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ppt_x"/>
                                          </p:val>
                                        </p:tav>
                                        <p:tav tm="100000">
                                          <p:val>
                                            <p:strVal val="#ppt_x"/>
                                          </p:val>
                                        </p:tav>
                                      </p:tavLst>
                                    </p:anim>
                                    <p:anim calcmode="lin" valueType="num">
                                      <p:cBhvr additive="base">
                                        <p:cTn id="1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7" name="Google Shape;127;p21"/>
          <p:cNvSpPr txBox="1"/>
          <p:nvPr/>
        </p:nvSpPr>
        <p:spPr>
          <a:xfrm>
            <a:off x="381000" y="495300"/>
            <a:ext cx="8382000"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0" dirty="0">
                <a:solidFill>
                  <a:srgbClr val="1A2B3C"/>
                </a:solidFill>
                <a:latin typeface="Inter SemiBold"/>
                <a:ea typeface="Inter SemiBold"/>
                <a:cs typeface="Inter SemiBold"/>
                <a:sym typeface="Inter SemiBold"/>
              </a:rPr>
              <a:t>Men Bear Double the Mortality Burden</a:t>
            </a:r>
            <a:endParaRPr sz="2100" b="0" dirty="0">
              <a:solidFill>
                <a:srgbClr val="1A2B3C"/>
              </a:solidFill>
              <a:latin typeface="Inter SemiBold"/>
              <a:ea typeface="Inter SemiBold"/>
              <a:cs typeface="Inter SemiBold"/>
              <a:sym typeface="Inter SemiBold"/>
            </a:endParaRPr>
          </a:p>
        </p:txBody>
      </p:sp>
      <p:pic>
        <p:nvPicPr>
          <p:cNvPr id="3" name="Picture 2">
            <a:extLst>
              <a:ext uri="{FF2B5EF4-FFF2-40B4-BE49-F238E27FC236}">
                <a16:creationId xmlns:a16="http://schemas.microsoft.com/office/drawing/2014/main" id="{DF6A5392-350B-7208-B273-9B4A9C76CF5D}"/>
              </a:ext>
            </a:extLst>
          </p:cNvPr>
          <p:cNvPicPr>
            <a:picLocks noChangeAspect="1"/>
          </p:cNvPicPr>
          <p:nvPr/>
        </p:nvPicPr>
        <p:blipFill>
          <a:blip r:embed="rId3"/>
          <a:stretch>
            <a:fillRect/>
          </a:stretch>
        </p:blipFill>
        <p:spPr>
          <a:xfrm>
            <a:off x="381000" y="1065248"/>
            <a:ext cx="6744153" cy="3474073"/>
          </a:xfrm>
          <a:prstGeom prst="rect">
            <a:avLst/>
          </a:prstGeom>
        </p:spPr>
      </p:pic>
      <p:sp>
        <p:nvSpPr>
          <p:cNvPr id="5" name="TextBox 4">
            <a:extLst>
              <a:ext uri="{FF2B5EF4-FFF2-40B4-BE49-F238E27FC236}">
                <a16:creationId xmlns:a16="http://schemas.microsoft.com/office/drawing/2014/main" id="{69CA8C94-66E7-6432-D514-3721ED554BF2}"/>
              </a:ext>
            </a:extLst>
          </p:cNvPr>
          <p:cNvSpPr txBox="1"/>
          <p:nvPr/>
        </p:nvSpPr>
        <p:spPr>
          <a:xfrm>
            <a:off x="7233859" y="1784196"/>
            <a:ext cx="1226201" cy="600164"/>
          </a:xfrm>
          <a:prstGeom prst="rect">
            <a:avLst/>
          </a:prstGeom>
          <a:solidFill>
            <a:schemeClr val="tx2"/>
          </a:solidFill>
        </p:spPr>
        <p:txBody>
          <a:bodyPr wrap="square" rtlCol="0">
            <a:spAutoFit/>
          </a:bodyPr>
          <a:lstStyle/>
          <a:p>
            <a:r>
              <a:rPr lang="en-US" sz="1100" dirty="0">
                <a:latin typeface="Aptos" panose="020B0004020202020204" pitchFamily="34" charset="0"/>
              </a:rPr>
              <a:t>Approx 2.1x Avg Male to Female ratio</a:t>
            </a:r>
            <a:endParaRPr lang="en-CA" sz="1100" dirty="0">
              <a:latin typeface="Aptos" panose="020B0004020202020204" pitchFamily="34" charset="0"/>
            </a:endParaRPr>
          </a:p>
        </p:txBody>
      </p:sp>
      <p:sp>
        <p:nvSpPr>
          <p:cNvPr id="7" name="TextBox 6">
            <a:extLst>
              <a:ext uri="{FF2B5EF4-FFF2-40B4-BE49-F238E27FC236}">
                <a16:creationId xmlns:a16="http://schemas.microsoft.com/office/drawing/2014/main" id="{D7718488-0450-900F-5B50-8CF14CB2866B}"/>
              </a:ext>
            </a:extLst>
          </p:cNvPr>
          <p:cNvSpPr txBox="1"/>
          <p:nvPr/>
        </p:nvSpPr>
        <p:spPr>
          <a:xfrm>
            <a:off x="7233859" y="2571750"/>
            <a:ext cx="1761460" cy="1954381"/>
          </a:xfrm>
          <a:prstGeom prst="rect">
            <a:avLst/>
          </a:prstGeom>
          <a:solidFill>
            <a:schemeClr val="tx2"/>
          </a:solidFill>
        </p:spPr>
        <p:txBody>
          <a:bodyPr wrap="square" rtlCol="0">
            <a:spAutoFit/>
          </a:bodyPr>
          <a:lstStyle/>
          <a:p>
            <a:r>
              <a:rPr lang="en-US" sz="1100" dirty="0">
                <a:latin typeface="Aptos" panose="020B0004020202020204" pitchFamily="34" charset="0"/>
              </a:rPr>
              <a:t>The male mortality rate fell from 6.4 to 5.3 per 100k (−17.2%) between 2018 and 2024. The female rate fell more modestly, from 3.0 to 2.6 per 100k (−13.3%), holding the gap between the two lines roughly constant across the period.</a:t>
            </a:r>
            <a:endParaRPr lang="en-CA" sz="1100" dirty="0">
              <a:latin typeface="Aptos" panose="020B00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7"/>
                                        </p:tgtEl>
                                        <p:attrNameLst>
                                          <p:attrName>style.visibility</p:attrName>
                                        </p:attrNameLst>
                                      </p:cBhvr>
                                      <p:to>
                                        <p:strVal val="visible"/>
                                      </p:to>
                                    </p:set>
                                    <p:anim calcmode="lin" valueType="num">
                                      <p:cBhvr additive="base">
                                        <p:cTn id="7" dur="500" fill="hold"/>
                                        <p:tgtEl>
                                          <p:spTgt spid="127"/>
                                        </p:tgtEl>
                                        <p:attrNameLst>
                                          <p:attrName>ppt_x</p:attrName>
                                        </p:attrNameLst>
                                      </p:cBhvr>
                                      <p:tavLst>
                                        <p:tav tm="0">
                                          <p:val>
                                            <p:strVal val="#ppt_x"/>
                                          </p:val>
                                        </p:tav>
                                        <p:tav tm="100000">
                                          <p:val>
                                            <p:strVal val="#ppt_x"/>
                                          </p:val>
                                        </p:tav>
                                      </p:tavLst>
                                    </p:anim>
                                    <p:anim calcmode="lin" valueType="num">
                                      <p:cBhvr additive="base">
                                        <p:cTn id="8" dur="500" fill="hold"/>
                                        <p:tgtEl>
                                          <p:spTgt spid="1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P spid="5"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CBB27FAE-3896-261A-8B15-04840D3D504C}"/>
            </a:ext>
          </a:extLst>
        </p:cNvPr>
        <p:cNvGrpSpPr/>
        <p:nvPr/>
      </p:nvGrpSpPr>
      <p:grpSpPr>
        <a:xfrm>
          <a:off x="0" y="0"/>
          <a:ext cx="0" cy="0"/>
          <a:chOff x="0" y="0"/>
          <a:chExt cx="0" cy="0"/>
        </a:xfrm>
      </p:grpSpPr>
      <p:sp>
        <p:nvSpPr>
          <p:cNvPr id="127" name="Google Shape;127;p21">
            <a:extLst>
              <a:ext uri="{FF2B5EF4-FFF2-40B4-BE49-F238E27FC236}">
                <a16:creationId xmlns:a16="http://schemas.microsoft.com/office/drawing/2014/main" id="{F930AD3D-5AFA-7437-F9D5-8310847D2C8C}"/>
              </a:ext>
            </a:extLst>
          </p:cNvPr>
          <p:cNvSpPr txBox="1"/>
          <p:nvPr/>
        </p:nvSpPr>
        <p:spPr>
          <a:xfrm>
            <a:off x="381000" y="495300"/>
            <a:ext cx="8382000"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0" dirty="0">
                <a:solidFill>
                  <a:srgbClr val="1A2B3C"/>
                </a:solidFill>
                <a:latin typeface="Inter SemiBold"/>
                <a:ea typeface="Inter SemiBold"/>
                <a:cs typeface="Inter SemiBold"/>
                <a:sym typeface="Inter SemiBold"/>
              </a:rPr>
              <a:t>January is the peak month</a:t>
            </a:r>
            <a:endParaRPr sz="2100" b="0" dirty="0">
              <a:solidFill>
                <a:srgbClr val="1A2B3C"/>
              </a:solidFill>
              <a:latin typeface="Inter SemiBold"/>
              <a:ea typeface="Inter SemiBold"/>
              <a:cs typeface="Inter SemiBold"/>
              <a:sym typeface="Inter SemiBold"/>
            </a:endParaRPr>
          </a:p>
        </p:txBody>
      </p:sp>
      <p:sp>
        <p:nvSpPr>
          <p:cNvPr id="5" name="TextBox 4">
            <a:extLst>
              <a:ext uri="{FF2B5EF4-FFF2-40B4-BE49-F238E27FC236}">
                <a16:creationId xmlns:a16="http://schemas.microsoft.com/office/drawing/2014/main" id="{8D7057A8-E323-A36B-EED5-F2D64852CF24}"/>
              </a:ext>
            </a:extLst>
          </p:cNvPr>
          <p:cNvSpPr txBox="1"/>
          <p:nvPr/>
        </p:nvSpPr>
        <p:spPr>
          <a:xfrm>
            <a:off x="7233859" y="924000"/>
            <a:ext cx="1226201" cy="1277273"/>
          </a:xfrm>
          <a:prstGeom prst="rect">
            <a:avLst/>
          </a:prstGeom>
          <a:solidFill>
            <a:schemeClr val="tx2"/>
          </a:solidFill>
        </p:spPr>
        <p:txBody>
          <a:bodyPr wrap="square" rtlCol="0">
            <a:spAutoFit/>
          </a:bodyPr>
          <a:lstStyle/>
          <a:p>
            <a:r>
              <a:rPr lang="en-US" sz="1100" dirty="0">
                <a:latin typeface="Aptos" panose="020B0004020202020204" pitchFamily="34" charset="0"/>
              </a:rPr>
              <a:t>Averaged across all seven years, January is the highest mortality month with sharp increase from November</a:t>
            </a:r>
            <a:endParaRPr lang="en-CA" sz="1100" dirty="0">
              <a:latin typeface="Aptos" panose="020B0004020202020204" pitchFamily="34" charset="0"/>
            </a:endParaRPr>
          </a:p>
        </p:txBody>
      </p:sp>
      <p:sp>
        <p:nvSpPr>
          <p:cNvPr id="7" name="TextBox 6">
            <a:extLst>
              <a:ext uri="{FF2B5EF4-FFF2-40B4-BE49-F238E27FC236}">
                <a16:creationId xmlns:a16="http://schemas.microsoft.com/office/drawing/2014/main" id="{25E729C5-06DE-A286-DEF8-06D5A40A2321}"/>
              </a:ext>
            </a:extLst>
          </p:cNvPr>
          <p:cNvSpPr txBox="1"/>
          <p:nvPr/>
        </p:nvSpPr>
        <p:spPr>
          <a:xfrm>
            <a:off x="7233859" y="2571750"/>
            <a:ext cx="1412053" cy="769441"/>
          </a:xfrm>
          <a:prstGeom prst="rect">
            <a:avLst/>
          </a:prstGeom>
          <a:solidFill>
            <a:schemeClr val="tx2"/>
          </a:solidFill>
        </p:spPr>
        <p:txBody>
          <a:bodyPr wrap="square" rtlCol="0">
            <a:spAutoFit/>
          </a:bodyPr>
          <a:lstStyle/>
          <a:p>
            <a:r>
              <a:rPr lang="en-US" sz="1100" dirty="0">
                <a:latin typeface="Aptos" panose="020B0004020202020204" pitchFamily="34" charset="0"/>
              </a:rPr>
              <a:t>The single largest monthly count in the dataset is July 2021, at 185 deaths </a:t>
            </a:r>
            <a:endParaRPr lang="en-CA" sz="1100" dirty="0">
              <a:latin typeface="Aptos" panose="020B0004020202020204" pitchFamily="34" charset="0"/>
            </a:endParaRPr>
          </a:p>
        </p:txBody>
      </p:sp>
      <p:pic>
        <p:nvPicPr>
          <p:cNvPr id="10" name="Picture 9">
            <a:extLst>
              <a:ext uri="{FF2B5EF4-FFF2-40B4-BE49-F238E27FC236}">
                <a16:creationId xmlns:a16="http://schemas.microsoft.com/office/drawing/2014/main" id="{BB2DE9ED-88D7-C62C-8EED-C78A2D46605A}"/>
              </a:ext>
            </a:extLst>
          </p:cNvPr>
          <p:cNvPicPr>
            <a:picLocks noChangeAspect="1"/>
          </p:cNvPicPr>
          <p:nvPr/>
        </p:nvPicPr>
        <p:blipFill>
          <a:blip r:embed="rId3"/>
          <a:stretch>
            <a:fillRect/>
          </a:stretch>
        </p:blipFill>
        <p:spPr>
          <a:xfrm>
            <a:off x="381000" y="913370"/>
            <a:ext cx="6728248" cy="4067508"/>
          </a:xfrm>
          <a:prstGeom prst="rect">
            <a:avLst/>
          </a:prstGeom>
        </p:spPr>
      </p:pic>
    </p:spTree>
    <p:extLst>
      <p:ext uri="{BB962C8B-B14F-4D97-AF65-F5344CB8AC3E}">
        <p14:creationId xmlns:p14="http://schemas.microsoft.com/office/powerpoint/2010/main" val="2270890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1000"/>
                                        <p:tgtEl>
                                          <p:spTgt spid="127"/>
                                        </p:tgtEl>
                                      </p:cBhvr>
                                    </p:animEffect>
                                    <p:anim calcmode="lin" valueType="num">
                                      <p:cBhvr>
                                        <p:cTn id="8" dur="1000" fill="hold"/>
                                        <p:tgtEl>
                                          <p:spTgt spid="127"/>
                                        </p:tgtEl>
                                        <p:attrNameLst>
                                          <p:attrName>ppt_x</p:attrName>
                                        </p:attrNameLst>
                                      </p:cBhvr>
                                      <p:tavLst>
                                        <p:tav tm="0">
                                          <p:val>
                                            <p:strVal val="#ppt_x"/>
                                          </p:val>
                                        </p:tav>
                                        <p:tav tm="100000">
                                          <p:val>
                                            <p:strVal val="#ppt_x"/>
                                          </p:val>
                                        </p:tav>
                                      </p:tavLst>
                                    </p:anim>
                                    <p:anim calcmode="lin" valueType="num">
                                      <p:cBhvr>
                                        <p:cTn id="9" dur="1000" fill="hold"/>
                                        <p:tgtEl>
                                          <p:spTgt spid="12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P spid="5"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F56DF13E-7AA2-364A-3BF4-BD82AAB332FD}"/>
            </a:ext>
          </a:extLst>
        </p:cNvPr>
        <p:cNvGrpSpPr/>
        <p:nvPr/>
      </p:nvGrpSpPr>
      <p:grpSpPr>
        <a:xfrm>
          <a:off x="0" y="0"/>
          <a:ext cx="0" cy="0"/>
          <a:chOff x="0" y="0"/>
          <a:chExt cx="0" cy="0"/>
        </a:xfrm>
      </p:grpSpPr>
      <p:grpSp>
        <p:nvGrpSpPr>
          <p:cNvPr id="2" name="Google Shape;166;p22">
            <a:extLst>
              <a:ext uri="{FF2B5EF4-FFF2-40B4-BE49-F238E27FC236}">
                <a16:creationId xmlns:a16="http://schemas.microsoft.com/office/drawing/2014/main" id="{008FCBEC-9E00-6259-7AD3-DEAB1E63E317}"/>
              </a:ext>
            </a:extLst>
          </p:cNvPr>
          <p:cNvGrpSpPr/>
          <p:nvPr/>
        </p:nvGrpSpPr>
        <p:grpSpPr>
          <a:xfrm>
            <a:off x="0" y="0"/>
            <a:ext cx="9144000" cy="5143500"/>
            <a:chOff x="0" y="0"/>
            <a:chExt cx="9144000" cy="5143500"/>
          </a:xfrm>
        </p:grpSpPr>
        <p:sp>
          <p:nvSpPr>
            <p:cNvPr id="3" name="Google Shape;167;p22">
              <a:extLst>
                <a:ext uri="{FF2B5EF4-FFF2-40B4-BE49-F238E27FC236}">
                  <a16:creationId xmlns:a16="http://schemas.microsoft.com/office/drawing/2014/main" id="{55641EB9-5DBE-B948-F97C-841194444DB1}"/>
                </a:ext>
              </a:extLst>
            </p:cNvPr>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 name="Google Shape;168;p22">
              <a:extLst>
                <a:ext uri="{FF2B5EF4-FFF2-40B4-BE49-F238E27FC236}">
                  <a16:creationId xmlns:a16="http://schemas.microsoft.com/office/drawing/2014/main" id="{52A3D00B-C583-4C61-9D4C-F15C8908AE7B}"/>
                </a:ext>
              </a:extLst>
            </p:cNvPr>
            <p:cNvSpPr/>
            <p:nvPr/>
          </p:nvSpPr>
          <p:spPr>
            <a:xfrm>
              <a:off x="381000" y="381000"/>
              <a:ext cx="571500" cy="381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 name="Google Shape;169;p22">
              <a:extLst>
                <a:ext uri="{FF2B5EF4-FFF2-40B4-BE49-F238E27FC236}">
                  <a16:creationId xmlns:a16="http://schemas.microsoft.com/office/drawing/2014/main" id="{89C57877-F427-FC95-E329-377107C479B4}"/>
                </a:ext>
              </a:extLst>
            </p:cNvPr>
            <p:cNvSpPr/>
            <p:nvPr/>
          </p:nvSpPr>
          <p:spPr>
            <a:xfrm>
              <a:off x="381000" y="952500"/>
              <a:ext cx="8382000" cy="96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27" name="Google Shape;127;p21">
            <a:extLst>
              <a:ext uri="{FF2B5EF4-FFF2-40B4-BE49-F238E27FC236}">
                <a16:creationId xmlns:a16="http://schemas.microsoft.com/office/drawing/2014/main" id="{5A6F1294-F89B-B36D-92B6-FC2EC80E0889}"/>
              </a:ext>
            </a:extLst>
          </p:cNvPr>
          <p:cNvSpPr txBox="1"/>
          <p:nvPr/>
        </p:nvSpPr>
        <p:spPr>
          <a:xfrm>
            <a:off x="381000" y="495300"/>
            <a:ext cx="8294649"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0" dirty="0">
                <a:solidFill>
                  <a:srgbClr val="1A2B3C"/>
                </a:solidFill>
                <a:latin typeface="Inter SemiBold"/>
                <a:ea typeface="Inter SemiBold"/>
                <a:cs typeface="Inter SemiBold"/>
                <a:sym typeface="Inter SemiBold"/>
              </a:rPr>
              <a:t>Conclusion</a:t>
            </a:r>
            <a:endParaRPr sz="2100" b="0" dirty="0">
              <a:solidFill>
                <a:srgbClr val="1A2B3C"/>
              </a:solidFill>
              <a:latin typeface="Inter SemiBold"/>
              <a:ea typeface="Inter SemiBold"/>
              <a:cs typeface="Inter SemiBold"/>
              <a:sym typeface="Inter SemiBold"/>
            </a:endParaRPr>
          </a:p>
        </p:txBody>
      </p:sp>
      <p:sp>
        <p:nvSpPr>
          <p:cNvPr id="7" name="TextBox 6">
            <a:extLst>
              <a:ext uri="{FF2B5EF4-FFF2-40B4-BE49-F238E27FC236}">
                <a16:creationId xmlns:a16="http://schemas.microsoft.com/office/drawing/2014/main" id="{1380F6A5-676F-FE0D-9E64-D38FF70B39EF}"/>
              </a:ext>
            </a:extLst>
          </p:cNvPr>
          <p:cNvSpPr txBox="1"/>
          <p:nvPr/>
        </p:nvSpPr>
        <p:spPr>
          <a:xfrm>
            <a:off x="381000" y="1914600"/>
            <a:ext cx="2079702" cy="1615827"/>
          </a:xfrm>
          <a:prstGeom prst="rect">
            <a:avLst/>
          </a:prstGeom>
          <a:solidFill>
            <a:schemeClr val="tx2"/>
          </a:solidFill>
        </p:spPr>
        <p:txBody>
          <a:bodyPr wrap="square" rtlCol="0">
            <a:spAutoFit/>
          </a:bodyPr>
          <a:lstStyle/>
          <a:p>
            <a:r>
              <a:rPr lang="en-US" sz="1100" dirty="0">
                <a:latin typeface="Aptos" panose="020B0004020202020204" pitchFamily="34" charset="0"/>
              </a:rPr>
              <a:t>Cardiomyopathy causes just 3% of all heart disease death (139,236) of 4.77 Million) but approx. 60% of its death occurs in age group of 0-24 in every single year from 2018 – 2024. Even though it’s not a large killer, it is silently becoming a young killer</a:t>
            </a:r>
            <a:endParaRPr lang="en-CA" sz="1100" dirty="0">
              <a:latin typeface="Aptos" panose="020B0004020202020204" pitchFamily="34" charset="0"/>
            </a:endParaRPr>
          </a:p>
        </p:txBody>
      </p:sp>
      <p:cxnSp>
        <p:nvCxnSpPr>
          <p:cNvPr id="17" name="Straight Connector 16">
            <a:extLst>
              <a:ext uri="{FF2B5EF4-FFF2-40B4-BE49-F238E27FC236}">
                <a16:creationId xmlns:a16="http://schemas.microsoft.com/office/drawing/2014/main" id="{D6B232A3-070D-B8D4-E74E-6077B82D023B}"/>
              </a:ext>
            </a:extLst>
          </p:cNvPr>
          <p:cNvCxnSpPr/>
          <p:nvPr/>
        </p:nvCxnSpPr>
        <p:spPr>
          <a:xfrm flipV="1">
            <a:off x="5502198" y="2705466"/>
            <a:ext cx="814970" cy="8523"/>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746BC27-CF65-83AB-4CFB-43013DA253C0}"/>
              </a:ext>
            </a:extLst>
          </p:cNvPr>
          <p:cNvCxnSpPr>
            <a:cxnSpLocks/>
            <a:stCxn id="7" idx="3"/>
          </p:cNvCxnSpPr>
          <p:nvPr/>
        </p:nvCxnSpPr>
        <p:spPr>
          <a:xfrm>
            <a:off x="2460702" y="2722514"/>
            <a:ext cx="840646" cy="9256"/>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B4FC9CDA-D259-3C84-4255-D2536DAD8233}"/>
              </a:ext>
            </a:extLst>
          </p:cNvPr>
          <p:cNvSpPr/>
          <p:nvPr/>
        </p:nvSpPr>
        <p:spPr>
          <a:xfrm>
            <a:off x="6181278" y="2569576"/>
            <a:ext cx="271780" cy="2717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100"/>
          </a:p>
        </p:txBody>
      </p:sp>
      <p:sp>
        <p:nvSpPr>
          <p:cNvPr id="18" name="Oval 17">
            <a:extLst>
              <a:ext uri="{FF2B5EF4-FFF2-40B4-BE49-F238E27FC236}">
                <a16:creationId xmlns:a16="http://schemas.microsoft.com/office/drawing/2014/main" id="{9E8D8C9D-07A9-4F23-377B-37A0D431A891}"/>
              </a:ext>
            </a:extLst>
          </p:cNvPr>
          <p:cNvSpPr/>
          <p:nvPr/>
        </p:nvSpPr>
        <p:spPr>
          <a:xfrm>
            <a:off x="3136900" y="2595880"/>
            <a:ext cx="271780" cy="2717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sz="1100"/>
          </a:p>
        </p:txBody>
      </p:sp>
      <p:sp>
        <p:nvSpPr>
          <p:cNvPr id="11" name="TextBox 10">
            <a:extLst>
              <a:ext uri="{FF2B5EF4-FFF2-40B4-BE49-F238E27FC236}">
                <a16:creationId xmlns:a16="http://schemas.microsoft.com/office/drawing/2014/main" id="{519E2EB0-BE69-7835-D291-109BA018F665}"/>
              </a:ext>
            </a:extLst>
          </p:cNvPr>
          <p:cNvSpPr txBox="1"/>
          <p:nvPr/>
        </p:nvSpPr>
        <p:spPr>
          <a:xfrm>
            <a:off x="3275672" y="1782520"/>
            <a:ext cx="2226526" cy="1785104"/>
          </a:xfrm>
          <a:prstGeom prst="rect">
            <a:avLst/>
          </a:prstGeom>
          <a:solidFill>
            <a:schemeClr val="tx2"/>
          </a:solidFill>
        </p:spPr>
        <p:txBody>
          <a:bodyPr wrap="square" rtlCol="0">
            <a:spAutoFit/>
          </a:bodyPr>
          <a:lstStyle/>
          <a:p>
            <a:r>
              <a:rPr lang="en-US" sz="1100" dirty="0">
                <a:latin typeface="Aptos" panose="020B0004020202020204" pitchFamily="34" charset="0"/>
              </a:rPr>
              <a:t>Cardiomyopathy often affects young people and can develop before symptoms become apparent. Yet, because heart disease is commonly perceived as an older adult’s condition, awareness and screening efforts often fail to reach the very population most vulnerable to this condition.</a:t>
            </a:r>
          </a:p>
        </p:txBody>
      </p:sp>
      <p:sp>
        <p:nvSpPr>
          <p:cNvPr id="12" name="TextBox 11">
            <a:extLst>
              <a:ext uri="{FF2B5EF4-FFF2-40B4-BE49-F238E27FC236}">
                <a16:creationId xmlns:a16="http://schemas.microsoft.com/office/drawing/2014/main" id="{9006C444-2CFC-3624-F3C1-F32BA89EE004}"/>
              </a:ext>
            </a:extLst>
          </p:cNvPr>
          <p:cNvSpPr txBox="1"/>
          <p:nvPr/>
        </p:nvSpPr>
        <p:spPr>
          <a:xfrm>
            <a:off x="6317168" y="1652161"/>
            <a:ext cx="2226526" cy="1954381"/>
          </a:xfrm>
          <a:prstGeom prst="rect">
            <a:avLst/>
          </a:prstGeom>
          <a:solidFill>
            <a:schemeClr val="tx2"/>
          </a:solidFill>
        </p:spPr>
        <p:txBody>
          <a:bodyPr wrap="square" rtlCol="0">
            <a:spAutoFit/>
          </a:bodyPr>
          <a:lstStyle/>
          <a:p>
            <a:r>
              <a:rPr lang="en-US" sz="1100" dirty="0">
                <a:latin typeface="Aptos" panose="020B0004020202020204" pitchFamily="34" charset="0"/>
              </a:rPr>
              <a:t>Since young adult men face a notably higher cardiomyopathy risk than any other group, targeted action matters most here. Symptoms often go unnoticed until the condition becomes serious, making targeted awareness among this population potentially the highest impact intervention indicated by these data.</a:t>
            </a:r>
          </a:p>
        </p:txBody>
      </p:sp>
    </p:spTree>
    <p:extLst>
      <p:ext uri="{BB962C8B-B14F-4D97-AF65-F5344CB8AC3E}">
        <p14:creationId xmlns:p14="http://schemas.microsoft.com/office/powerpoint/2010/main" val="1125733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7"/>
                                        </p:tgtEl>
                                        <p:attrNameLst>
                                          <p:attrName>style.visibility</p:attrName>
                                        </p:attrNameLst>
                                      </p:cBhvr>
                                      <p:to>
                                        <p:strVal val="visible"/>
                                      </p:to>
                                    </p:set>
                                    <p:anim calcmode="lin" valueType="num">
                                      <p:cBhvr additive="base">
                                        <p:cTn id="7" dur="500" fill="hold"/>
                                        <p:tgtEl>
                                          <p:spTgt spid="127"/>
                                        </p:tgtEl>
                                        <p:attrNameLst>
                                          <p:attrName>ppt_x</p:attrName>
                                        </p:attrNameLst>
                                      </p:cBhvr>
                                      <p:tavLst>
                                        <p:tav tm="0">
                                          <p:val>
                                            <p:strVal val="#ppt_x"/>
                                          </p:val>
                                        </p:tav>
                                        <p:tav tm="100000">
                                          <p:val>
                                            <p:strVal val="#ppt_x"/>
                                          </p:val>
                                        </p:tav>
                                      </p:tavLst>
                                    </p:anim>
                                    <p:anim calcmode="lin" valueType="num">
                                      <p:cBhvr additive="base">
                                        <p:cTn id="8" dur="500" fill="hold"/>
                                        <p:tgtEl>
                                          <p:spTgt spid="1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P spid="7" grpId="0" animBg="1"/>
      <p:bldP spid="20" grpId="0" animBg="1"/>
      <p:bldP spid="18" grpId="0" animBg="1"/>
      <p:bldP spid="11"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955AEFFA-767B-631F-7E8E-F7128B2C5000}"/>
            </a:ext>
          </a:extLst>
        </p:cNvPr>
        <p:cNvGrpSpPr/>
        <p:nvPr/>
      </p:nvGrpSpPr>
      <p:grpSpPr>
        <a:xfrm>
          <a:off x="0" y="0"/>
          <a:ext cx="0" cy="0"/>
          <a:chOff x="0" y="0"/>
          <a:chExt cx="0" cy="0"/>
        </a:xfrm>
      </p:grpSpPr>
      <p:grpSp>
        <p:nvGrpSpPr>
          <p:cNvPr id="2" name="Google Shape;166;p22">
            <a:extLst>
              <a:ext uri="{FF2B5EF4-FFF2-40B4-BE49-F238E27FC236}">
                <a16:creationId xmlns:a16="http://schemas.microsoft.com/office/drawing/2014/main" id="{4EE533A4-B7E5-CE31-C3BB-CDDA0DE74DBE}"/>
              </a:ext>
            </a:extLst>
          </p:cNvPr>
          <p:cNvGrpSpPr/>
          <p:nvPr/>
        </p:nvGrpSpPr>
        <p:grpSpPr>
          <a:xfrm>
            <a:off x="0" y="0"/>
            <a:ext cx="9144000" cy="5143500"/>
            <a:chOff x="0" y="0"/>
            <a:chExt cx="9144000" cy="5143500"/>
          </a:xfrm>
        </p:grpSpPr>
        <p:sp>
          <p:nvSpPr>
            <p:cNvPr id="3" name="Google Shape;167;p22">
              <a:extLst>
                <a:ext uri="{FF2B5EF4-FFF2-40B4-BE49-F238E27FC236}">
                  <a16:creationId xmlns:a16="http://schemas.microsoft.com/office/drawing/2014/main" id="{8D3B06F2-9844-2CB5-6352-E472BA00EEEA}"/>
                </a:ext>
              </a:extLst>
            </p:cNvPr>
            <p:cNvSpPr/>
            <p:nvPr/>
          </p:nvSpPr>
          <p:spPr>
            <a:xfrm>
              <a:off x="0" y="0"/>
              <a:ext cx="9144000" cy="51435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 name="Google Shape;168;p22">
              <a:extLst>
                <a:ext uri="{FF2B5EF4-FFF2-40B4-BE49-F238E27FC236}">
                  <a16:creationId xmlns:a16="http://schemas.microsoft.com/office/drawing/2014/main" id="{B42FF7CD-F9EE-C93B-FF88-DD899898F8A9}"/>
                </a:ext>
              </a:extLst>
            </p:cNvPr>
            <p:cNvSpPr/>
            <p:nvPr/>
          </p:nvSpPr>
          <p:spPr>
            <a:xfrm>
              <a:off x="381000" y="381000"/>
              <a:ext cx="571500" cy="38100"/>
            </a:xfrm>
            <a:prstGeom prst="roundRect">
              <a:avLst>
                <a:gd name="adj" fmla="val 50000"/>
              </a:avLst>
            </a:prstGeom>
            <a:solidFill>
              <a:srgbClr val="007B8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 name="Google Shape;169;p22">
              <a:extLst>
                <a:ext uri="{FF2B5EF4-FFF2-40B4-BE49-F238E27FC236}">
                  <a16:creationId xmlns:a16="http://schemas.microsoft.com/office/drawing/2014/main" id="{930C515E-81CF-8FFB-259C-CAC39D7FD19E}"/>
                </a:ext>
              </a:extLst>
            </p:cNvPr>
            <p:cNvSpPr/>
            <p:nvPr/>
          </p:nvSpPr>
          <p:spPr>
            <a:xfrm>
              <a:off x="381000" y="952500"/>
              <a:ext cx="8382000" cy="9600"/>
            </a:xfrm>
            <a:prstGeom prst="rect">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27" name="Google Shape;127;p21">
            <a:extLst>
              <a:ext uri="{FF2B5EF4-FFF2-40B4-BE49-F238E27FC236}">
                <a16:creationId xmlns:a16="http://schemas.microsoft.com/office/drawing/2014/main" id="{3E82B19F-A63F-414C-7F13-BD2D0A71AB49}"/>
              </a:ext>
            </a:extLst>
          </p:cNvPr>
          <p:cNvSpPr txBox="1"/>
          <p:nvPr/>
        </p:nvSpPr>
        <p:spPr>
          <a:xfrm>
            <a:off x="381000" y="495300"/>
            <a:ext cx="8294649"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dirty="0">
                <a:solidFill>
                  <a:srgbClr val="1A2B3C"/>
                </a:solidFill>
                <a:latin typeface="Inter SemiBold"/>
                <a:ea typeface="Inter SemiBold"/>
                <a:cs typeface="Inter SemiBold"/>
                <a:sym typeface="Inter SemiBold"/>
              </a:rPr>
              <a:t>Additional</a:t>
            </a:r>
            <a:r>
              <a:rPr lang="en-US" sz="2100" b="0" dirty="0">
                <a:solidFill>
                  <a:srgbClr val="1A2B3C"/>
                </a:solidFill>
                <a:latin typeface="Inter SemiBold"/>
                <a:ea typeface="Inter SemiBold"/>
                <a:cs typeface="Inter SemiBold"/>
                <a:sym typeface="Inter SemiBold"/>
              </a:rPr>
              <a:t> information</a:t>
            </a:r>
            <a:endParaRPr sz="2100" b="0" dirty="0">
              <a:solidFill>
                <a:srgbClr val="1A2B3C"/>
              </a:solidFill>
              <a:latin typeface="Inter SemiBold"/>
              <a:ea typeface="Inter SemiBold"/>
              <a:cs typeface="Inter SemiBold"/>
              <a:sym typeface="Inter SemiBold"/>
            </a:endParaRPr>
          </a:p>
        </p:txBody>
      </p:sp>
      <p:sp>
        <p:nvSpPr>
          <p:cNvPr id="6" name="TextBox 5">
            <a:extLst>
              <a:ext uri="{FF2B5EF4-FFF2-40B4-BE49-F238E27FC236}">
                <a16:creationId xmlns:a16="http://schemas.microsoft.com/office/drawing/2014/main" id="{FA6112EB-8B0B-C552-BE44-1AAAFA39E6AE}"/>
              </a:ext>
            </a:extLst>
          </p:cNvPr>
          <p:cNvSpPr txBox="1"/>
          <p:nvPr/>
        </p:nvSpPr>
        <p:spPr>
          <a:xfrm>
            <a:off x="441960" y="1112520"/>
            <a:ext cx="8382000" cy="2292935"/>
          </a:xfrm>
          <a:prstGeom prst="rect">
            <a:avLst/>
          </a:prstGeom>
          <a:solidFill>
            <a:schemeClr val="tx2"/>
          </a:solidFill>
        </p:spPr>
        <p:txBody>
          <a:bodyPr wrap="square" rtlCol="0">
            <a:spAutoFit/>
          </a:bodyPr>
          <a:lstStyle/>
          <a:p>
            <a:pPr marL="171450" indent="-171450">
              <a:buFont typeface="Wingdings" panose="05000000000000000000" pitchFamily="2" charset="2"/>
              <a:buChar char="Ø"/>
            </a:pPr>
            <a:r>
              <a:rPr lang="en-US" sz="1100" dirty="0"/>
              <a:t>NCHS Vital Statistics Online Data Portal (Mortality Multiple Cause Files) : </a:t>
            </a:r>
            <a:r>
              <a:rPr lang="en-CA" sz="1100" dirty="0">
                <a:hlinkClick r:id="rId3"/>
              </a:rPr>
              <a:t>Data Access - Vital Statistics Online</a:t>
            </a:r>
            <a:r>
              <a:rPr lang="en-US" sz="1100" dirty="0"/>
              <a:t>  </a:t>
            </a:r>
          </a:p>
          <a:p>
            <a:pPr marL="171450" indent="-171450">
              <a:buFont typeface="Wingdings" panose="05000000000000000000" pitchFamily="2" charset="2"/>
              <a:buChar char="Ø"/>
            </a:pPr>
            <a:r>
              <a:rPr lang="en-US" sz="1100" dirty="0"/>
              <a:t>Variable mapping (2018-2024): </a:t>
            </a:r>
            <a:r>
              <a:rPr lang="en-CA" sz="1100" dirty="0">
                <a:hlinkClick r:id="rId4"/>
              </a:rPr>
              <a:t>NVSS - Public Use Data File Documentation</a:t>
            </a:r>
            <a:r>
              <a:rPr lang="en-US" sz="1100" dirty="0"/>
              <a:t>  </a:t>
            </a:r>
          </a:p>
          <a:p>
            <a:pPr marL="171450" indent="-171450">
              <a:buFont typeface="Wingdings" panose="05000000000000000000" pitchFamily="2" charset="2"/>
              <a:buChar char="Ø"/>
            </a:pPr>
            <a:r>
              <a:rPr lang="en-US" sz="1100" dirty="0"/>
              <a:t>CDC Wonder: </a:t>
            </a:r>
            <a:r>
              <a:rPr lang="en-CA" sz="1100" dirty="0">
                <a:hlinkClick r:id="rId5"/>
              </a:rPr>
              <a:t>Multiple Cause of Death, 2018-2024, Single Race Request Form</a:t>
            </a:r>
            <a:endParaRPr lang="en-CA" sz="1100" dirty="0"/>
          </a:p>
          <a:p>
            <a:pPr marL="171450" indent="-171450">
              <a:buFont typeface="Wingdings" panose="05000000000000000000" pitchFamily="2" charset="2"/>
              <a:buChar char="Ø"/>
            </a:pPr>
            <a:r>
              <a:rPr lang="en-CA" sz="1100" dirty="0"/>
              <a:t>Population by age &amp; sex 2018: </a:t>
            </a:r>
            <a:r>
              <a:rPr lang="en-CA" sz="1100" dirty="0">
                <a:hlinkClick r:id="rId6"/>
              </a:rPr>
              <a:t>https://data.census.gov/table/ACSST1Y2018.S0101?q=Age+and+sex&amp;y=2018</a:t>
            </a:r>
            <a:endParaRPr lang="en-CA" sz="1100" dirty="0"/>
          </a:p>
          <a:p>
            <a:pPr marL="171450" indent="-171450">
              <a:buFont typeface="Wingdings" panose="05000000000000000000" pitchFamily="2" charset="2"/>
              <a:buChar char="Ø"/>
            </a:pPr>
            <a:r>
              <a:rPr lang="en-CA" sz="1100" dirty="0"/>
              <a:t>…..</a:t>
            </a:r>
          </a:p>
          <a:p>
            <a:pPr marL="171450" indent="-171450">
              <a:buFont typeface="Wingdings" panose="05000000000000000000" pitchFamily="2" charset="2"/>
              <a:buChar char="Ø"/>
            </a:pPr>
            <a:r>
              <a:rPr lang="en-CA" sz="1100" dirty="0"/>
              <a:t>Population by age &amp; sex 2024: </a:t>
            </a:r>
            <a:r>
              <a:rPr lang="en-CA" sz="1100" dirty="0">
                <a:hlinkClick r:id="rId7"/>
              </a:rPr>
              <a:t>https://data.census.gov/table/ACSST1Y2018.S0101?q=Age+and+sex&amp;y=2024</a:t>
            </a:r>
            <a:endParaRPr lang="en-CA" sz="1100" dirty="0"/>
          </a:p>
          <a:p>
            <a:pPr marL="171450" indent="-171450">
              <a:buFont typeface="Wingdings" panose="05000000000000000000" pitchFamily="2" charset="2"/>
              <a:buChar char="Ø"/>
            </a:pPr>
            <a:r>
              <a:rPr lang="en-CA" sz="1100" dirty="0"/>
              <a:t>Broad Asian population 2018: </a:t>
            </a:r>
            <a:r>
              <a:rPr lang="en-CA" sz="1100" dirty="0">
                <a:hlinkClick r:id="rId8"/>
              </a:rPr>
              <a:t>https://data.census.gov/table?q=B02015&amp;y=2018</a:t>
            </a:r>
            <a:endParaRPr lang="en-CA" sz="1100" dirty="0"/>
          </a:p>
          <a:p>
            <a:pPr marL="171450" indent="-171450">
              <a:buFont typeface="Wingdings" panose="05000000000000000000" pitchFamily="2" charset="2"/>
              <a:buChar char="Ø"/>
            </a:pPr>
            <a:r>
              <a:rPr lang="en-CA" sz="1100" dirty="0"/>
              <a:t>….</a:t>
            </a:r>
          </a:p>
          <a:p>
            <a:pPr marL="171450" indent="-171450">
              <a:buFont typeface="Wingdings" panose="05000000000000000000" pitchFamily="2" charset="2"/>
              <a:buChar char="Ø"/>
            </a:pPr>
            <a:r>
              <a:rPr lang="en-CA" sz="1100" dirty="0"/>
              <a:t>Broad Asian population 2024: </a:t>
            </a:r>
            <a:r>
              <a:rPr lang="en-CA" sz="1100" dirty="0">
                <a:hlinkClick r:id="rId9"/>
              </a:rPr>
              <a:t>https://data.census.gov/table?q=B02015&amp;y=2024</a:t>
            </a:r>
            <a:endParaRPr lang="en-CA" sz="1100" dirty="0"/>
          </a:p>
          <a:p>
            <a:pPr marL="171450" indent="-171450">
              <a:buFont typeface="Wingdings" panose="05000000000000000000" pitchFamily="2" charset="2"/>
              <a:buChar char="Ø"/>
            </a:pPr>
            <a:r>
              <a:rPr lang="en-US" sz="1100" dirty="0"/>
              <a:t>Broad Native Hawaiian and Other Pacific Islander population 2018: </a:t>
            </a:r>
            <a:r>
              <a:rPr lang="en-US" sz="1100" dirty="0">
                <a:hlinkClick r:id="rId10"/>
              </a:rPr>
              <a:t>https://data.census.gov/table?q=B02016&amp;y=2018</a:t>
            </a:r>
            <a:endParaRPr lang="en-US" sz="1100" dirty="0"/>
          </a:p>
          <a:p>
            <a:pPr marL="171450" indent="-171450">
              <a:buFont typeface="Wingdings" panose="05000000000000000000" pitchFamily="2" charset="2"/>
              <a:buChar char="Ø"/>
            </a:pPr>
            <a:r>
              <a:rPr lang="en-US" sz="1100" dirty="0"/>
              <a:t>….</a:t>
            </a:r>
          </a:p>
          <a:p>
            <a:pPr marL="171450" indent="-171450">
              <a:buFont typeface="Wingdings" panose="05000000000000000000" pitchFamily="2" charset="2"/>
              <a:buChar char="Ø"/>
            </a:pPr>
            <a:r>
              <a:rPr lang="en-US" sz="1100" dirty="0"/>
              <a:t>Broad Native Hawaiian and Other Pacific Islander population 2024: </a:t>
            </a:r>
            <a:r>
              <a:rPr lang="en-US" sz="1100" dirty="0">
                <a:hlinkClick r:id="rId11"/>
              </a:rPr>
              <a:t>https://data.census.gov/table?q=B02016&amp;y=2024</a:t>
            </a:r>
            <a:endParaRPr lang="en-US" sz="1100" dirty="0"/>
          </a:p>
          <a:p>
            <a:pPr marL="171450" indent="-171450">
              <a:buFont typeface="Wingdings" panose="05000000000000000000" pitchFamily="2" charset="2"/>
              <a:buChar char="Ø"/>
            </a:pPr>
            <a:endParaRPr lang="en-CA" sz="1100" dirty="0"/>
          </a:p>
        </p:txBody>
      </p:sp>
      <p:sp>
        <p:nvSpPr>
          <p:cNvPr id="9" name="TextBox 8">
            <a:extLst>
              <a:ext uri="{FF2B5EF4-FFF2-40B4-BE49-F238E27FC236}">
                <a16:creationId xmlns:a16="http://schemas.microsoft.com/office/drawing/2014/main" id="{AD85C9CF-1442-4CB1-2967-6B69DC7EFAD6}"/>
              </a:ext>
            </a:extLst>
          </p:cNvPr>
          <p:cNvSpPr txBox="1"/>
          <p:nvPr/>
        </p:nvSpPr>
        <p:spPr>
          <a:xfrm>
            <a:off x="441960" y="3748534"/>
            <a:ext cx="8382000" cy="430887"/>
          </a:xfrm>
          <a:prstGeom prst="rect">
            <a:avLst/>
          </a:prstGeom>
          <a:solidFill>
            <a:schemeClr val="tx2"/>
          </a:solidFill>
        </p:spPr>
        <p:txBody>
          <a:bodyPr wrap="square" rtlCol="0">
            <a:spAutoFit/>
          </a:bodyPr>
          <a:lstStyle/>
          <a:p>
            <a:pPr marL="171450" indent="-171450">
              <a:buFont typeface="Wingdings" panose="05000000000000000000" pitchFamily="2" charset="2"/>
              <a:buChar char="Ø"/>
            </a:pPr>
            <a:r>
              <a:rPr lang="en-US" sz="1100" dirty="0" err="1"/>
              <a:t>Linkedin</a:t>
            </a:r>
            <a:r>
              <a:rPr lang="en-US" sz="1100" dirty="0"/>
              <a:t>: </a:t>
            </a:r>
            <a:r>
              <a:rPr lang="en-CA" sz="1100" dirty="0">
                <a:hlinkClick r:id="rId12"/>
              </a:rPr>
              <a:t>Madan Timilsina | LinkedIn</a:t>
            </a:r>
            <a:r>
              <a:rPr lang="en-US" sz="1100" dirty="0"/>
              <a:t> </a:t>
            </a:r>
          </a:p>
          <a:p>
            <a:pPr marL="171450" indent="-171450">
              <a:buFont typeface="Wingdings" panose="05000000000000000000" pitchFamily="2" charset="2"/>
              <a:buChar char="Ø"/>
            </a:pPr>
            <a:endParaRPr lang="en-CA" sz="1100" dirty="0"/>
          </a:p>
        </p:txBody>
      </p:sp>
    </p:spTree>
    <p:extLst>
      <p:ext uri="{BB962C8B-B14F-4D97-AF65-F5344CB8AC3E}">
        <p14:creationId xmlns:p14="http://schemas.microsoft.com/office/powerpoint/2010/main" val="286430046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solidFill>
          <a:schemeClr val="tx2"/>
        </a:solidFill>
      </a:spPr>
      <a:bodyPr wrap="square" rtlCol="0">
        <a:spAutoFit/>
      </a:bodyPr>
      <a:lstStyle>
        <a:defPPr algn="l">
          <a:defRPr sz="1100" dirty="0"/>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399</TotalTime>
  <Words>1209</Words>
  <Application>Microsoft Office PowerPoint</Application>
  <PresentationFormat>On-screen Show (16:9)</PresentationFormat>
  <Paragraphs>92</Paragraphs>
  <Slides>19</Slides>
  <Notes>19</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Inter SemiBold</vt:lpstr>
      <vt:lpstr>Inter</vt:lpstr>
      <vt:lpstr>Lato SemiBold</vt:lpstr>
      <vt:lpstr>Inter 24pt Black</vt:lpstr>
      <vt:lpstr>Arial</vt:lpstr>
      <vt:lpstr>Wingdings</vt:lpstr>
      <vt:lpstr>Aptos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Madan Timilsina</dc:creator>
  <cp:lastModifiedBy>Madan Timilsina</cp:lastModifiedBy>
  <cp:revision>13</cp:revision>
  <dcterms:modified xsi:type="dcterms:W3CDTF">2026-08-23T14:31:13Z</dcterms:modified>
</cp:coreProperties>
</file>